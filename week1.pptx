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50">
                <a:solidFill>
                  <a:srgbClr val="F1F5F9"/>
                </a:solidFill>
                <a:latin typeface="Calibri"/>
                <a:ea typeface="MiSans"/>
              </a:defRPr>
            </a:pPr>
            <a:r>
              <a:t>CVSS v3 Score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9A23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solidFill>
                      <a:srgbClr val="F1F5F9"/>
                    </a:solidFill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0-2</c:v>
                </c:pt>
                <c:pt idx="1">
                  <c:v>2-4</c:v>
                </c:pt>
                <c:pt idx="2">
                  <c:v>4-6</c:v>
                </c:pt>
                <c:pt idx="3">
                  <c:v>6-8</c:v>
                </c:pt>
                <c:pt idx="4">
                  <c:v>8-10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45</c:v>
                </c:pt>
                <c:pt idx="3">
                  <c:v>62</c:v>
                </c:pt>
                <c:pt idx="4">
                  <c:v>38</c:v>
                </c:pt>
              </c:numCache>
            </c:numRef>
          </c:val>
        </c:ser>
        <c:axId val="-2068027336"/>
        <c:axId val="-2113994440"/>
        <c:dLbls>
          <c:showLegendKey val="0"/>
          <c:showVal val="1"/>
          <c:showCatName val="0"/>
          <c:showSerName val="0"/>
          <c:showPercent val="0"/>
          <c:showBubbleSize val="0"/>
        </c:dLbls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00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1"/>
        <c:axPos val="l"/>
        <c:majorGridlines>
          <c:spPr>
            <a:ln>
              <a:solidFill>
                <a:srgbClr val="334155"/>
              </a:solidFill>
              <a:prstDash val="dash"/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900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068027336"/>
        <c:crosses val="autoZero"/>
      </c:valAx>
    </c:plotArea>
    <c:dispBlanksAs val="gap"/>
  </c:chart>
  <c:spPr>
    <a:solidFill>
      <a:srgbClr val="1E293B"/>
    </a:solidFill>
    <a:ln w="12700">
      <a:solidFill>
        <a:srgbClr val="334155"/>
      </a:solidFill>
      <a:prstDash val="solid"/>
    </a:ln>
  </c:spPr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50">
                <a:solidFill>
                  <a:srgbClr val="F1F5F9"/>
                </a:solidFill>
                <a:latin typeface="Calibri"/>
                <a:ea typeface="MiSans"/>
              </a:defRPr>
            </a:pPr>
            <a:r>
              <a:t>Simulated Confidence Distributions by Input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(&lt;0.5)</c:v>
                </c:pt>
              </c:strCache>
            </c:strRef>
          </c:tx>
          <c:spPr>
            <a:solidFill>
              <a:srgbClr val="F8717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25">
                    <a:solidFill>
                      <a:srgbClr val="F1F5F9"/>
                    </a:solidFill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SBOM JSON</c:v>
                </c:pt>
                <c:pt idx="1">
                  <c:v>Screenshot OCR</c:v>
                </c:pt>
                <c:pt idx="2">
                  <c:v>Manual Text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(0.5-0.89)</c:v>
                </c:pt>
              </c:strCache>
            </c:strRef>
          </c:tx>
          <c:spPr>
            <a:solidFill>
              <a:srgbClr val="60A5F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25">
                    <a:solidFill>
                      <a:srgbClr val="F1F5F9"/>
                    </a:solidFill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SBOM JSON</c:v>
                </c:pt>
                <c:pt idx="1">
                  <c:v>Screenshot OCR</c:v>
                </c:pt>
                <c:pt idx="2">
                  <c:v>Manual Text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55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(&gt;=0.9)</c:v>
                </c:pt>
              </c:strCache>
            </c:strRef>
          </c:tx>
          <c:spPr>
            <a:solidFill>
              <a:srgbClr val="34D39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25">
                    <a:solidFill>
                      <a:srgbClr val="F1F5F9"/>
                    </a:solidFill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SBOM JSON</c:v>
                </c:pt>
                <c:pt idx="1">
                  <c:v>Screenshot OCR</c:v>
                </c:pt>
                <c:pt idx="2">
                  <c:v>Manual Text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</c:ser>
        <c:axId val="-2068027336"/>
        <c:axId val="-2113994440"/>
        <c:dLbls>
          <c:showLegendKey val="0"/>
          <c:showVal val="1"/>
          <c:showCatName val="0"/>
          <c:showSerName val="0"/>
          <c:showPercent val="0"/>
          <c:showBubbleSize val="0"/>
        </c:dLbls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1"/>
        <c:axPos val="l"/>
        <c:majorGridlines>
          <c:spPr>
            <a:ln>
              <a:solidFill>
                <a:srgbClr val="334155"/>
              </a:solidFill>
              <a:prstDash val="dash"/>
            </a:ln>
          </c:spPr>
        </c:majorGridlines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9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 spcFirstLastPara="1" vertOverflow="ellipsis" vert="horz" wrap="square" lIns="38100" tIns="19050" rIns="38100" bIns="19050" anchor="ctr" anchorCtr="1">
          <a:spAutoFit/>
        </a:bodyPr>
        <a:lstStyle/>
        <a:p>
          <a:pPr>
            <a:defRPr sz="900">
              <a:solidFill>
                <a:srgbClr val="94A3B8"/>
              </a:solidFill>
              <a:latin typeface="Calibri"/>
              <a:ea typeface="MiSans"/>
            </a:defRPr>
          </a:pPr>
        </a:p>
      </c:txPr>
    </c:legend>
    <c:dispBlanksAs val="gap"/>
  </c:chart>
  <c:spPr>
    <a:solidFill>
      <a:srgbClr val="1E293B"/>
    </a:solidFill>
    <a:ln w="12700">
      <a:solidFill>
        <a:srgbClr val="334155"/>
      </a:solidFill>
      <a:prstDash val="solid"/>
    </a:ln>
  </c:spPr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title|s=$cover_title"/>
          <p:cNvSpPr txBox="1"/>
          <p:nvPr/>
        </p:nvSpPr>
        <p:spPr>
          <a:xfrm>
            <a:off x="1333500" y="1905000"/>
            <a:ext cx="952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noProof="1" spc="300">
                <a:solidFill>
                  <a:srgbClr val="E9A23B"/>
                </a:solidFill>
                <a:latin typeface="Liter"/>
                <a:ea typeface="Liter"/>
              </a:rPr>
              <a:t>IT SECURITY AGENT</a:t>
            </a:r>
          </a:p>
        </p:txBody>
      </p:sp>
      <p:sp>
        <p:nvSpPr>
          <p:cNvPr id="3" name="dsl:accent-line"/>
          <p:cNvSpPr/>
          <p:nvPr/>
        </p:nvSpPr>
        <p:spPr>
          <a:xfrm>
            <a:off x="5143500" y="2857500"/>
            <a:ext cx="1905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over-subtitle"/>
          <p:cNvSpPr txBox="1"/>
          <p:nvPr/>
        </p:nvSpPr>
        <p:spPr>
          <a:xfrm>
            <a:off x="2286000" y="3048000"/>
            <a:ext cx="7620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650" noProof="1">
                <a:solidFill>
                  <a:srgbClr val="F1F5F9"/>
                </a:solidFill>
                <a:latin typeface="QuattrocentoSans"/>
                <a:ea typeface="QuattrocentoSans"/>
              </a:rPr>
              <a:t>Responsible AI &amp; Data Ethics</a:t>
            </a:r>
          </a:p>
          <a:p>
            <a:pPr algn="ctr">
              <a:lnSpc>
                <a:spcPct val="150000"/>
              </a:lnSpc>
            </a:pPr>
            <a:r>
              <a:rPr sz="1650" noProof="1">
                <a:solidFill>
                  <a:srgbClr val="F1F5F9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5" name="dsl:cover-desc"/>
          <p:cNvSpPr txBox="1"/>
          <p:nvPr/>
        </p:nvSpPr>
        <p:spPr>
          <a:xfrm>
            <a:off x="1809750" y="4000500"/>
            <a:ext cx="85725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NVD Data Analysis | Bias Audit | Regulatory Mapping | Architecture Design</a:t>
            </a:r>
          </a:p>
        </p:txBody>
      </p:sp>
      <p:sp>
        <p:nvSpPr>
          <p:cNvPr id="6" name="dsl:cover-bottom"/>
          <p:cNvSpPr txBox="1"/>
          <p:nvPr/>
        </p:nvSpPr>
        <p:spPr>
          <a:xfrm>
            <a:off x="3238500" y="5715000"/>
            <a:ext cx="571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 noProof="1">
                <a:solidFill>
                  <a:srgbClr val="64748B"/>
                </a:solidFill>
                <a:latin typeface="QuattrocentoSans"/>
                <a:ea typeface="QuattrocentoSans"/>
              </a:rPr>
              <a:t>[Your Team Name] | [Date] | Responsible AI &amp; Data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left-label"/>
          <p:cNvSpPr txBox="1"/>
          <p:nvPr/>
        </p:nvSpPr>
        <p:spPr>
          <a:xfrm>
            <a:off x="571500" y="1333500"/>
            <a:ext cx="3810000" cy="419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5400" noProof="1" spc="450">
                <a:solidFill>
                  <a:srgbClr val="E9A23B"/>
                </a:solidFill>
                <a:latin typeface="Liter"/>
                <a:ea typeface="Liter"/>
              </a:rPr>
              <a:t>A</a:t>
            </a:r>
          </a:p>
          <a:p>
            <a:pPr algn="l">
              <a:lnSpc>
                <a:spcPct val="120000"/>
              </a:lnSpc>
            </a:pPr>
            <a:r>
              <a:rPr sz="5400" noProof="1" spc="450">
                <a:solidFill>
                  <a:srgbClr val="E9A23B"/>
                </a:solidFill>
                <a:latin typeface="Liter"/>
                <a:ea typeface="Liter"/>
              </a:rPr>
              <a:t>G</a:t>
            </a:r>
          </a:p>
          <a:p>
            <a:pPr algn="l">
              <a:lnSpc>
                <a:spcPct val="120000"/>
              </a:lnSpc>
            </a:pPr>
            <a:r>
              <a:rPr sz="5400" noProof="1" spc="450">
                <a:solidFill>
                  <a:srgbClr val="E9A23B"/>
                </a:solidFill>
                <a:latin typeface="Liter"/>
                <a:ea typeface="Liter"/>
              </a:rPr>
              <a:t>E</a:t>
            </a:r>
          </a:p>
          <a:p>
            <a:pPr algn="l">
              <a:lnSpc>
                <a:spcPct val="120000"/>
              </a:lnSpc>
            </a:pPr>
            <a:r>
              <a:rPr sz="5400" noProof="1" spc="450">
                <a:solidFill>
                  <a:srgbClr val="E9A23B"/>
                </a:solidFill>
                <a:latin typeface="Liter"/>
                <a:ea typeface="Liter"/>
              </a:rPr>
              <a:t>N</a:t>
            </a:r>
          </a:p>
          <a:p>
            <a:pPr algn="l">
              <a:lnSpc>
                <a:spcPct val="120000"/>
              </a:lnSpc>
            </a:pPr>
            <a:r>
              <a:rPr sz="5400" noProof="1" spc="450">
                <a:solidFill>
                  <a:srgbClr val="E9A23B"/>
                </a:solidFill>
                <a:latin typeface="Liter"/>
                <a:ea typeface="Liter"/>
              </a:rPr>
              <a:t>D</a:t>
            </a:r>
          </a:p>
          <a:p>
            <a:pPr algn="l">
              <a:lnSpc>
                <a:spcPct val="120000"/>
              </a:lnSpc>
            </a:pPr>
            <a:r>
              <a:rPr sz="5400" noProof="1" spc="450">
                <a:solidFill>
                  <a:srgbClr val="E9A23B"/>
                </a:solidFill>
                <a:latin typeface="Liter"/>
                <a:ea typeface="Liter"/>
              </a:rPr>
              <a:t>A</a:t>
            </a:r>
          </a:p>
        </p:txBody>
      </p:sp>
      <p:sp>
        <p:nvSpPr>
          <p:cNvPr id="3" name="dsl:toc-divider"/>
          <p:cNvSpPr/>
          <p:nvPr/>
        </p:nvSpPr>
        <p:spPr>
          <a:xfrm>
            <a:off x="4572000" y="1333500"/>
            <a:ext cx="28575" cy="4191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toc-item-1-num"/>
          <p:cNvSpPr txBox="1"/>
          <p:nvPr/>
        </p:nvSpPr>
        <p:spPr>
          <a:xfrm>
            <a:off x="4953000" y="1524000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E9A23B"/>
                </a:solidFill>
                <a:latin typeface="Liter"/>
                <a:ea typeface="Liter"/>
              </a:rPr>
              <a:t>01</a:t>
            </a:r>
          </a:p>
        </p:txBody>
      </p:sp>
      <p:sp>
        <p:nvSpPr>
          <p:cNvPr id="5" name="dsl:toc-item-1-title"/>
          <p:cNvSpPr txBox="1"/>
          <p:nvPr/>
        </p:nvSpPr>
        <p:spPr>
          <a:xfrm>
            <a:off x="5619750" y="1524000"/>
            <a:ext cx="571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1F5F9"/>
                </a:solidFill>
                <a:latin typeface="Liter"/>
                <a:ea typeface="Liter"/>
              </a:rPr>
              <a:t>PROJECT VISION</a:t>
            </a:r>
          </a:p>
        </p:txBody>
      </p:sp>
      <p:sp>
        <p:nvSpPr>
          <p:cNvPr id="6" name="dsl:toc-item-1-desc"/>
          <p:cNvSpPr txBox="1"/>
          <p:nvPr/>
        </p:nvSpPr>
        <p:spPr>
          <a:xfrm>
            <a:off x="5619750" y="1905000"/>
            <a:ext cx="571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What makes our Responsible Vulnerability Intelligence Agent different from standard CVE scanners</a:t>
            </a:r>
          </a:p>
        </p:txBody>
      </p:sp>
      <p:sp>
        <p:nvSpPr>
          <p:cNvPr id="7" name="dsl:toc-line-1"/>
          <p:cNvSpPr/>
          <p:nvPr/>
        </p:nvSpPr>
        <p:spPr>
          <a:xfrm>
            <a:off x="4953000" y="2476500"/>
            <a:ext cx="6381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oc-item-2-num"/>
          <p:cNvSpPr txBox="1"/>
          <p:nvPr/>
        </p:nvSpPr>
        <p:spPr>
          <a:xfrm>
            <a:off x="4953000" y="2762250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E9A23B"/>
                </a:solidFill>
                <a:latin typeface="Liter"/>
                <a:ea typeface="Liter"/>
              </a:rPr>
              <a:t>02</a:t>
            </a:r>
          </a:p>
        </p:txBody>
      </p:sp>
      <p:sp>
        <p:nvSpPr>
          <p:cNvPr id="9" name="dsl:toc-item-2-title"/>
          <p:cNvSpPr txBox="1"/>
          <p:nvPr/>
        </p:nvSpPr>
        <p:spPr>
          <a:xfrm>
            <a:off x="5619750" y="2762250"/>
            <a:ext cx="571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1F5F9"/>
                </a:solidFill>
                <a:latin typeface="Liter"/>
                <a:ea typeface="Liter"/>
              </a:rPr>
              <a:t>WEEK 1 DEEP DIVE</a:t>
            </a:r>
          </a:p>
        </p:txBody>
      </p:sp>
      <p:sp>
        <p:nvSpPr>
          <p:cNvPr id="10" name="dsl:toc-item-2-desc"/>
          <p:cNvSpPr txBox="1"/>
          <p:nvPr/>
        </p:nvSpPr>
        <p:spPr>
          <a:xfrm>
            <a:off x="5619750" y="3143250"/>
            <a:ext cx="571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NVD data analysis, bias &amp; fairness audit, and multi-modal input design with confidence calibration</a:t>
            </a:r>
          </a:p>
        </p:txBody>
      </p:sp>
      <p:sp>
        <p:nvSpPr>
          <p:cNvPr id="11" name="dsl:toc-line-2"/>
          <p:cNvSpPr/>
          <p:nvPr/>
        </p:nvSpPr>
        <p:spPr>
          <a:xfrm>
            <a:off x="4953000" y="3714750"/>
            <a:ext cx="6381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oc-item-3-num"/>
          <p:cNvSpPr txBox="1"/>
          <p:nvPr/>
        </p:nvSpPr>
        <p:spPr>
          <a:xfrm>
            <a:off x="4953000" y="4000500"/>
            <a:ext cx="571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E9A23B"/>
                </a:solidFill>
                <a:latin typeface="Liter"/>
                <a:ea typeface="Liter"/>
              </a:rPr>
              <a:t>03</a:t>
            </a:r>
          </a:p>
        </p:txBody>
      </p:sp>
      <p:sp>
        <p:nvSpPr>
          <p:cNvPr id="13" name="dsl:toc-item-3-title"/>
          <p:cNvSpPr txBox="1"/>
          <p:nvPr/>
        </p:nvSpPr>
        <p:spPr>
          <a:xfrm>
            <a:off x="5619750" y="4000500"/>
            <a:ext cx="5715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1F5F9"/>
                </a:solidFill>
                <a:latin typeface="Liter"/>
                <a:ea typeface="Liter"/>
              </a:rPr>
              <a:t>REGULATORY &amp; ARCHITECTURE</a:t>
            </a:r>
          </a:p>
        </p:txBody>
      </p:sp>
      <p:sp>
        <p:nvSpPr>
          <p:cNvPr id="14" name="dsl:toc-item-3-desc"/>
          <p:cNvSpPr txBox="1"/>
          <p:nvPr/>
        </p:nvSpPr>
        <p:spPr>
          <a:xfrm>
            <a:off x="5619750" y="4381500"/>
            <a:ext cx="57150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Compliance mapping to EU AI Act, NIS2, Cyber Resilience Act, and system architecture design</a:t>
            </a:r>
          </a:p>
        </p:txBody>
      </p:sp>
      <p:sp>
        <p:nvSpPr>
          <p:cNvPr id="15" name="dsl:toc-line-3"/>
          <p:cNvSpPr/>
          <p:nvPr/>
        </p:nvSpPr>
        <p:spPr>
          <a:xfrm>
            <a:off x="4953000" y="4953000"/>
            <a:ext cx="6381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oc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17" name="dsl:toc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num"/>
          <p:cNvSpPr txBox="1"/>
          <p:nvPr/>
        </p:nvSpPr>
        <p:spPr>
          <a:xfrm>
            <a:off x="571500" y="1524000"/>
            <a:ext cx="2857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5400" noProof="1">
                <a:solidFill>
                  <a:srgbClr val="E9A23B"/>
                </a:solidFill>
                <a:latin typeface="Liter"/>
                <a:ea typeface="Liter"/>
              </a:rPr>
              <a:t>01</a:t>
            </a:r>
          </a:p>
        </p:txBody>
      </p:sp>
      <p:sp>
        <p:nvSpPr>
          <p:cNvPr id="3" name="dsl:ch1-accent"/>
          <p:cNvSpPr/>
          <p:nvPr/>
        </p:nvSpPr>
        <p:spPr>
          <a:xfrm>
            <a:off x="571500" y="2762250"/>
            <a:ext cx="762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1-title|s=$cover_title"/>
          <p:cNvSpPr txBox="1"/>
          <p:nvPr/>
        </p:nvSpPr>
        <p:spPr>
          <a:xfrm>
            <a:off x="571500" y="295275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 spc="300">
                <a:solidFill>
                  <a:srgbClr val="E9A23B"/>
                </a:solidFill>
                <a:latin typeface="Liter"/>
                <a:ea typeface="Liter"/>
              </a:rPr>
              <a:t>PROJECT VISION</a:t>
            </a:r>
          </a:p>
        </p:txBody>
      </p:sp>
      <p:sp>
        <p:nvSpPr>
          <p:cNvPr id="5" name="dsl:ch1-subtitle"/>
          <p:cNvSpPr txBox="1"/>
          <p:nvPr/>
        </p:nvSpPr>
        <p:spPr>
          <a:xfrm>
            <a:off x="571500" y="3714750"/>
            <a:ext cx="666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noProof="1">
                <a:solidFill>
                  <a:srgbClr val="94A3B8"/>
                </a:solidFill>
                <a:latin typeface="QuattrocentoSans"/>
                <a:ea typeface="QuattrocentoSans"/>
              </a:rPr>
              <a:t>Building a Responsible Vulnerability Intelligence Agent that goes beyond simple CVE matching</a:t>
            </a:r>
          </a:p>
        </p:txBody>
      </p:sp>
      <p:sp>
        <p:nvSpPr>
          <p:cNvPr id="6" name="dsl:ch1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7" name="dsl:ch1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_active"/>
          <p:cNvSpPr txBox="1"/>
          <p:nvPr/>
        </p:nvSpPr>
        <p:spPr>
          <a:xfrm>
            <a:off x="0" y="0"/>
            <a:ext cx="40576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1-indicator"/>
          <p:cNvSpPr/>
          <p:nvPr/>
        </p:nvSpPr>
        <p:spPr>
          <a:xfrm>
            <a:off x="1362075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nav-2|s=$nav"/>
          <p:cNvSpPr txBox="1"/>
          <p:nvPr/>
        </p:nvSpPr>
        <p:spPr>
          <a:xfrm>
            <a:off x="4067175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6" name="dsl:nav-3|s=$nav"/>
          <p:cNvSpPr txBox="1"/>
          <p:nvPr/>
        </p:nvSpPr>
        <p:spPr>
          <a:xfrm>
            <a:off x="8124825" y="0"/>
            <a:ext cx="406717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WHAT MAKES OUR AGENT DIFFERENT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dsl:diff-icon-1|i=fas:magnifying-glass-chart" descr="tmpsoktmr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diff-text-1"/>
          <p:cNvSpPr txBox="1"/>
          <p:nvPr/>
        </p:nvSpPr>
        <p:spPr>
          <a:xfrm>
            <a:off x="1028700" y="118110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1. Explainable Vulnerability Assessment (XAI)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Every finding includes provenance: which NVD record, CPE match, confidence score, and data lineage. Not just "vulnerable" — but </a:t>
            </a:r>
            <a:r>
              <a:rPr i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why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.</a:t>
            </a:r>
          </a:p>
        </p:txBody>
      </p:sp>
      <p:pic>
        <p:nvPicPr>
          <p:cNvPr id="11" name="dsl:diff-icon-2|i=fas:scale-balanced" descr="tmpsoktmr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336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diff-text-2"/>
          <p:cNvSpPr txBox="1"/>
          <p:nvPr/>
        </p:nvSpPr>
        <p:spPr>
          <a:xfrm>
            <a:off x="1028700" y="207645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2. NVD Data Bias &amp; Fairness Audit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We analyze whether NVD under-represents open-source, small libraries, or non-Western vendors. Pure data ethics — most teams skip this.</a:t>
            </a:r>
          </a:p>
        </p:txBody>
      </p:sp>
      <p:pic>
        <p:nvPicPr>
          <p:cNvPr id="13" name="dsl:diff-icon-3|i=fas:sliders" descr="tmpsoktmr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289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diff-text-3"/>
          <p:cNvSpPr txBox="1"/>
          <p:nvPr/>
        </p:nvSpPr>
        <p:spPr>
          <a:xfrm>
            <a:off x="1028700" y="297180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3. Confidence Calibration by Input Type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SBOM JSON (0.95), Screenshot OCR (0.65), Manual text (variable). Calibrated risk communication, not binary answers.</a:t>
            </a:r>
          </a:p>
        </p:txBody>
      </p:sp>
      <p:pic>
        <p:nvPicPr>
          <p:cNvPr id="15" name="dsl:diff-icon-4|i=fas:shield-halved" descr="tmpsoktmr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2382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diff-text-4"/>
          <p:cNvSpPr txBox="1"/>
          <p:nvPr/>
        </p:nvSpPr>
        <p:spPr>
          <a:xfrm>
            <a:off x="6743700" y="118110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4. Regulatory Compliance by Design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Every decision mapped to EU AI Act, NIS2, Cyber Resilience Act, GDPR, and NIST AI RMF. Compliance is architectural, not an afterthought.</a:t>
            </a:r>
          </a:p>
        </p:txBody>
      </p:sp>
      <p:pic>
        <p:nvPicPr>
          <p:cNvPr id="17" name="dsl:diff-icon-5|i=fas:clock-rotate-left" descr="tmpsoktmr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336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diff-text-5"/>
          <p:cNvSpPr txBox="1"/>
          <p:nvPr/>
        </p:nvSpPr>
        <p:spPr>
          <a:xfrm>
            <a:off x="6743700" y="207645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5. Temporal &amp; Lifecycle Intelligence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Beyond reactive scanning: vulnerability lifecycles, patch availability gaps, and exploitability trends over time.</a:t>
            </a:r>
          </a:p>
        </p:txBody>
      </p:sp>
      <p:sp>
        <p:nvSpPr>
          <p:cNvPr id="19" name="dsl:diff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20" name="dsl:diff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num"/>
          <p:cNvSpPr txBox="1"/>
          <p:nvPr/>
        </p:nvSpPr>
        <p:spPr>
          <a:xfrm>
            <a:off x="571500" y="1524000"/>
            <a:ext cx="2857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5400" noProof="1">
                <a:solidFill>
                  <a:srgbClr val="E9A23B"/>
                </a:solidFill>
                <a:latin typeface="Liter"/>
                <a:ea typeface="Liter"/>
              </a:rPr>
              <a:t>02</a:t>
            </a:r>
          </a:p>
        </p:txBody>
      </p:sp>
      <p:sp>
        <p:nvSpPr>
          <p:cNvPr id="3" name="dsl:ch2-accent"/>
          <p:cNvSpPr/>
          <p:nvPr/>
        </p:nvSpPr>
        <p:spPr>
          <a:xfrm>
            <a:off x="571500" y="2762250"/>
            <a:ext cx="762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2-title|s=$cover_title"/>
          <p:cNvSpPr txBox="1"/>
          <p:nvPr/>
        </p:nvSpPr>
        <p:spPr>
          <a:xfrm>
            <a:off x="571500" y="295275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 spc="300">
                <a:solidFill>
                  <a:srgbClr val="E9A23B"/>
                </a:solidFill>
                <a:latin typeface="Liter"/>
                <a:ea typeface="Liter"/>
              </a:rPr>
              <a:t>WEEK 1 DEEP DIVE</a:t>
            </a:r>
          </a:p>
        </p:txBody>
      </p:sp>
      <p:sp>
        <p:nvSpPr>
          <p:cNvPr id="5" name="dsl:ch2-subtitle"/>
          <p:cNvSpPr txBox="1"/>
          <p:nvPr/>
        </p:nvSpPr>
        <p:spPr>
          <a:xfrm>
            <a:off x="571500" y="3714750"/>
            <a:ext cx="666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noProof="1">
                <a:solidFill>
                  <a:srgbClr val="94A3B8"/>
                </a:solidFill>
                <a:latin typeface="QuattrocentoSans"/>
                <a:ea typeface="QuattrocentoSans"/>
              </a:rPr>
              <a:t>Data Analysis, Bias Audit, and Multi-Modal Input Design</a:t>
            </a:r>
          </a:p>
        </p:txBody>
      </p:sp>
      <p:sp>
        <p:nvSpPr>
          <p:cNvPr id="6" name="dsl:ch2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7" name="dsl:ch2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"/>
          <p:cNvSpPr txBox="1"/>
          <p:nvPr/>
        </p:nvSpPr>
        <p:spPr>
          <a:xfrm>
            <a:off x="0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2|s=$nav_active"/>
          <p:cNvSpPr txBox="1"/>
          <p:nvPr/>
        </p:nvSpPr>
        <p:spPr>
          <a:xfrm>
            <a:off x="4067175" y="0"/>
            <a:ext cx="40576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5" name="dsl:nav-2-indicator"/>
          <p:cNvSpPr/>
          <p:nvPr/>
        </p:nvSpPr>
        <p:spPr>
          <a:xfrm>
            <a:off x="5429250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nav-3|s=$nav"/>
          <p:cNvSpPr txBox="1"/>
          <p:nvPr/>
        </p:nvSpPr>
        <p:spPr>
          <a:xfrm>
            <a:off x="8124825" y="0"/>
            <a:ext cx="406717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NVD DATA ANALYSIS: KEY FINDINGS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kpi-card-1-bg"/>
          <p:cNvSpPr/>
          <p:nvPr/>
        </p:nvSpPr>
        <p:spPr>
          <a:xfrm>
            <a:off x="571500" y="1143000"/>
            <a:ext cx="3429000" cy="857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kpi-1-num|s=$kpi"/>
          <p:cNvSpPr txBox="1"/>
          <p:nvPr/>
        </p:nvSpPr>
        <p:spPr>
          <a:xfrm>
            <a:off x="762000" y="1238250"/>
            <a:ext cx="1524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noProof="1">
                <a:solidFill>
                  <a:srgbClr val="E9A23B"/>
                </a:solidFill>
                <a:latin typeface="Liter"/>
                <a:ea typeface="Liter"/>
              </a:rPr>
              <a:t>200K+</a:t>
            </a:r>
          </a:p>
        </p:txBody>
      </p:sp>
      <p:sp>
        <p:nvSpPr>
          <p:cNvPr id="11" name="dsl:kpi-1-label"/>
          <p:cNvSpPr txBox="1"/>
          <p:nvPr/>
        </p:nvSpPr>
        <p:spPr>
          <a:xfrm>
            <a:off x="762000" y="1714500"/>
            <a:ext cx="3048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CVEs Analyzed (NVD Feeds)</a:t>
            </a:r>
          </a:p>
        </p:txBody>
      </p:sp>
      <p:sp>
        <p:nvSpPr>
          <p:cNvPr id="12" name="dsl:kpi-card-2-bg"/>
          <p:cNvSpPr/>
          <p:nvPr/>
        </p:nvSpPr>
        <p:spPr>
          <a:xfrm>
            <a:off x="4191000" y="1143000"/>
            <a:ext cx="3429000" cy="857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kpi-2-num|s=$kpi"/>
          <p:cNvSpPr txBox="1"/>
          <p:nvPr/>
        </p:nvSpPr>
        <p:spPr>
          <a:xfrm>
            <a:off x="4381500" y="1238250"/>
            <a:ext cx="1524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noProof="1">
                <a:solidFill>
                  <a:srgbClr val="E9A23B"/>
                </a:solidFill>
                <a:latin typeface="Liter"/>
                <a:ea typeface="Liter"/>
              </a:rPr>
              <a:t>~15%</a:t>
            </a:r>
          </a:p>
        </p:txBody>
      </p:sp>
      <p:sp>
        <p:nvSpPr>
          <p:cNvPr id="14" name="dsl:kpi-2-label"/>
          <p:cNvSpPr txBox="1"/>
          <p:nvPr/>
        </p:nvSpPr>
        <p:spPr>
          <a:xfrm>
            <a:off x="4381500" y="1714500"/>
            <a:ext cx="3048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CVEs Missing Complete CPE Data</a:t>
            </a:r>
          </a:p>
        </p:txBody>
      </p:sp>
      <p:sp>
        <p:nvSpPr>
          <p:cNvPr id="15" name="dsl:kpi-card-3-bg"/>
          <p:cNvSpPr/>
          <p:nvPr/>
        </p:nvSpPr>
        <p:spPr>
          <a:xfrm>
            <a:off x="7810500" y="1143000"/>
            <a:ext cx="3810000" cy="857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kpi-3-num|s=$kpi"/>
          <p:cNvSpPr txBox="1"/>
          <p:nvPr/>
        </p:nvSpPr>
        <p:spPr>
          <a:xfrm>
            <a:off x="8001000" y="1238250"/>
            <a:ext cx="1524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noProof="1">
                <a:solidFill>
                  <a:srgbClr val="E9A23B"/>
                </a:solidFill>
                <a:latin typeface="Liter"/>
                <a:ea typeface="Liter"/>
              </a:rPr>
              <a:t>Variable</a:t>
            </a:r>
          </a:p>
        </p:txBody>
      </p:sp>
      <p:sp>
        <p:nvSpPr>
          <p:cNvPr id="17" name="dsl:kpi-3-label"/>
          <p:cNvSpPr txBox="1"/>
          <p:nvPr/>
        </p:nvSpPr>
        <p:spPr>
          <a:xfrm>
            <a:off x="8001000" y="1714500"/>
            <a:ext cx="3429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CVSS v3 Coverage by Year</a:t>
            </a:r>
          </a:p>
        </p:txBody>
      </p:sp>
      <p:sp>
        <p:nvSpPr>
          <p:cNvPr id="18" name="dsl:analysis-text"/>
          <p:cNvSpPr txBox="1"/>
          <p:nvPr/>
        </p:nvSpPr>
        <p:spPr>
          <a:xfrm>
            <a:off x="571500" y="2190750"/>
            <a:ext cx="5334000" cy="381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Key Data Quality Findings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~15% of recent CVEs lack complete CPE data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making them unmatchable by standard scanners. This directly impacts our agent's recall.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CVSS v3 coverage varies significantly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by year. Historical records are less complete, creating temporal bias in severity assessment.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Description lengths are often insufficient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for semantic understanding, limiting explainability of matches.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Vendor coverage is highly concentrated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top 5 vendors account for ~30% of all CVEs, raising fairness concerns.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Temporal gaps exist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in vulnerability disclosure to NVD publication, with some vendors receiving faster coverage than others.</a:t>
            </a:r>
          </a:p>
        </p:txBody>
      </p:sp>
      <p:graphicFrame>
        <p:nvGraphicFramePr>
          <p:cNvPr id="19" name="dsl:chart-placeholder"/>
          <p:cNvGraphicFramePr>
            <a:graphicFrameLocks noGrp="1"/>
          </p:cNvGraphicFramePr>
          <p:nvPr/>
        </p:nvGraphicFramePr>
        <p:xfrm>
          <a:off x="6096000" y="2190750"/>
          <a:ext cx="55245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dsl:nvd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 | NVD JSON Feeds 2024-2025</a:t>
            </a:r>
          </a:p>
        </p:txBody>
      </p:sp>
      <p:sp>
        <p:nvSpPr>
          <p:cNvPr id="21" name="dsl:nvd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"/>
          <p:cNvSpPr txBox="1"/>
          <p:nvPr/>
        </p:nvSpPr>
        <p:spPr>
          <a:xfrm>
            <a:off x="0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2|s=$nav_active"/>
          <p:cNvSpPr txBox="1"/>
          <p:nvPr/>
        </p:nvSpPr>
        <p:spPr>
          <a:xfrm>
            <a:off x="4067175" y="0"/>
            <a:ext cx="40576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5" name="dsl:nav-2-indicator"/>
          <p:cNvSpPr/>
          <p:nvPr/>
        </p:nvSpPr>
        <p:spPr>
          <a:xfrm>
            <a:off x="5429250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nav-3|s=$nav"/>
          <p:cNvSpPr txBox="1"/>
          <p:nvPr/>
        </p:nvSpPr>
        <p:spPr>
          <a:xfrm>
            <a:off x="8124825" y="0"/>
            <a:ext cx="406717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BIAS &amp; FAIRNESS AUDIT: OUR SECRET WEAPON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bias-intro"/>
          <p:cNvSpPr txBox="1"/>
          <p:nvPr/>
        </p:nvSpPr>
        <p:spPr>
          <a:xfrm>
            <a:off x="571500" y="1085850"/>
            <a:ext cx="11049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Most teams skip this. We do it because this is a </a:t>
            </a: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Responsible AI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course, not just cybersecurity.</a:t>
            </a:r>
          </a:p>
        </p:txBody>
      </p:sp>
      <p:sp>
        <p:nvSpPr>
          <p:cNvPr id="10" name="dsl:bias-card-1-bg"/>
          <p:cNvSpPr/>
          <p:nvPr/>
        </p:nvSpPr>
        <p:spPr>
          <a:xfrm>
            <a:off x="571500" y="1581150"/>
            <a:ext cx="5334000" cy="1238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bias-card-1-icon|i=fas:building" descr="tmpcmt735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14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bias-card-1-title"/>
          <p:cNvSpPr txBox="1"/>
          <p:nvPr/>
        </p:nvSpPr>
        <p:spPr>
          <a:xfrm>
            <a:off x="1143000" y="1676400"/>
            <a:ext cx="4572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Vendor Representation Bias</a:t>
            </a:r>
          </a:p>
        </p:txBody>
      </p:sp>
      <p:sp>
        <p:nvSpPr>
          <p:cNvPr id="13" name="dsl:bias-card-1-text"/>
          <p:cNvSpPr txBox="1"/>
          <p:nvPr/>
        </p:nvSpPr>
        <p:spPr>
          <a:xfrm>
            <a:off x="762000" y="2019300"/>
            <a:ext cx="49530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Top 5 vendors cover ~30% of all CVEs. Smaller vendors and open-source projects may be systematically under-represented, affecting our agent's ability to detect vulnerabilities in niche software.</a:t>
            </a:r>
          </a:p>
        </p:txBody>
      </p:sp>
      <p:sp>
        <p:nvSpPr>
          <p:cNvPr id="14" name="dsl:bias-card-2-bg"/>
          <p:cNvSpPr/>
          <p:nvPr/>
        </p:nvSpPr>
        <p:spPr>
          <a:xfrm>
            <a:off x="6096000" y="1581150"/>
            <a:ext cx="5524500" cy="1238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bias-card-2-icon|i=fas:chart-line" descr="tmpcmt735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714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bias-card-2-title"/>
          <p:cNvSpPr txBox="1"/>
          <p:nvPr/>
        </p:nvSpPr>
        <p:spPr>
          <a:xfrm>
            <a:off x="6667500" y="16764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Severity Calibration Bias</a:t>
            </a:r>
          </a:p>
        </p:txBody>
      </p:sp>
      <p:sp>
        <p:nvSpPr>
          <p:cNvPr id="17" name="dsl:bias-card-2-text"/>
          <p:cNvSpPr txBox="1"/>
          <p:nvPr/>
        </p:nvSpPr>
        <p:spPr>
          <a:xfrm>
            <a:off x="6286500" y="2019300"/>
            <a:ext cx="51435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Are enterprise products scored differently than open-source? Initial analysis shows variation in CVSS application consistency across vendor categories, suggesting potential scoring bias.</a:t>
            </a:r>
          </a:p>
        </p:txBody>
      </p:sp>
      <p:sp>
        <p:nvSpPr>
          <p:cNvPr id="18" name="dsl:bias-card-3-bg"/>
          <p:cNvSpPr/>
          <p:nvPr/>
        </p:nvSpPr>
        <p:spPr>
          <a:xfrm>
            <a:off x="571500" y="3009900"/>
            <a:ext cx="5334000" cy="1238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bias-card-3-icon|i=fas:clock" descr="tmpcmt735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43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bias-card-3-title"/>
          <p:cNvSpPr txBox="1"/>
          <p:nvPr/>
        </p:nvSpPr>
        <p:spPr>
          <a:xfrm>
            <a:off x="1143000" y="3105150"/>
            <a:ext cx="4572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Temporal Bias</a:t>
            </a:r>
          </a:p>
        </p:txBody>
      </p:sp>
      <p:sp>
        <p:nvSpPr>
          <p:cNvPr id="21" name="dsl:bias-card-3-text"/>
          <p:cNvSpPr txBox="1"/>
          <p:nvPr/>
        </p:nvSpPr>
        <p:spPr>
          <a:xfrm>
            <a:off x="762000" y="3448050"/>
            <a:ext cx="49530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Days from vulnerability disclosure to NVD publication vary significantly. Some vendors receive faster coverage, creating an information asymmetry that disadvantages users of slower-covered products.</a:t>
            </a:r>
          </a:p>
        </p:txBody>
      </p:sp>
      <p:sp>
        <p:nvSpPr>
          <p:cNvPr id="22" name="dsl:bias-card-4-bg"/>
          <p:cNvSpPr/>
          <p:nvPr/>
        </p:nvSpPr>
        <p:spPr>
          <a:xfrm>
            <a:off x="6096000" y="3009900"/>
            <a:ext cx="5524500" cy="12382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dsl:bias-card-4-icon|i=fas:flask" descr="tmpcmt735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1432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bias-card-4-title"/>
          <p:cNvSpPr txBox="1"/>
          <p:nvPr/>
        </p:nvSpPr>
        <p:spPr>
          <a:xfrm>
            <a:off x="6667500" y="31051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Our Bias Metrics Framework</a:t>
            </a:r>
          </a:p>
        </p:txBody>
      </p:sp>
      <p:sp>
        <p:nvSpPr>
          <p:cNvPr id="25" name="dsl:bias-card-4-text"/>
          <p:cNvSpPr txBox="1"/>
          <p:nvPr/>
        </p:nvSpPr>
        <p:spPr>
          <a:xfrm>
            <a:off x="6286500" y="3448050"/>
            <a:ext cx="514350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We defined custom metrics: Vendor Coverage Gini Coefficient, Temporal Lag Index by Vendor Size, and Severity Calibration Index. Our agent will monitor and report bias — not silently propagate it.</a:t>
            </a:r>
          </a:p>
        </p:txBody>
      </p:sp>
      <p:sp>
        <p:nvSpPr>
          <p:cNvPr id="26" name="dsl:bias-conclusion-bg"/>
          <p:cNvSpPr/>
          <p:nvPr/>
        </p:nvSpPr>
        <p:spPr>
          <a:xfrm>
            <a:off x="571500" y="4438650"/>
            <a:ext cx="11049000" cy="47625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bias-conclusion-text"/>
          <p:cNvSpPr txBox="1"/>
          <p:nvPr/>
        </p:nvSpPr>
        <p:spPr>
          <a:xfrm>
            <a:off x="762000" y="4438650"/>
            <a:ext cx="10668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0F1720"/>
                </a:solidFill>
                <a:latin typeface="QuattrocentoSans"/>
                <a:ea typeface="QuattrocentoSans"/>
              </a:rPr>
              <a:t>Impact on Our Agent:</a:t>
            </a:r>
            <a:r>
              <a:rPr sz="1200" noProof="1">
                <a:solidFill>
                  <a:srgbClr val="0F1720"/>
                </a:solidFill>
                <a:latin typeface="QuattrocentoSans"/>
                <a:ea typeface="QuattrocentoSans"/>
              </a:rPr>
              <a:t> We will report bias metrics alongside vulnerability findings, making data fairness a first-class feature rather than a hidden flaw.</a:t>
            </a:r>
          </a:p>
        </p:txBody>
      </p:sp>
      <p:sp>
        <p:nvSpPr>
          <p:cNvPr id="28" name="dsl:bias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29" name="dsl:bias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"/>
          <p:cNvSpPr txBox="1"/>
          <p:nvPr/>
        </p:nvSpPr>
        <p:spPr>
          <a:xfrm>
            <a:off x="0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2|s=$nav_active"/>
          <p:cNvSpPr txBox="1"/>
          <p:nvPr/>
        </p:nvSpPr>
        <p:spPr>
          <a:xfrm>
            <a:off x="4067175" y="0"/>
            <a:ext cx="40576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5" name="dsl:nav-2-indicator"/>
          <p:cNvSpPr/>
          <p:nvPr/>
        </p:nvSpPr>
        <p:spPr>
          <a:xfrm>
            <a:off x="5429250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nav-3|s=$nav"/>
          <p:cNvSpPr txBox="1"/>
          <p:nvPr/>
        </p:nvSpPr>
        <p:spPr>
          <a:xfrm>
            <a:off x="8124825" y="0"/>
            <a:ext cx="4067175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MULTI-MODAL INPUT WITH CONFIDENCE CALIBRATION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mm-intro"/>
          <p:cNvSpPr txBox="1"/>
          <p:nvPr/>
        </p:nvSpPr>
        <p:spPr>
          <a:xfrm>
            <a:off x="571500" y="1085850"/>
            <a:ext cx="11049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The project requires scanning </a:t>
            </a: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"pictures of software or SBOMs"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. We designed three confidence tiers with Human-in-the-Loop escalation.</a:t>
            </a:r>
          </a:p>
        </p:txBody>
      </p:sp>
      <p:sp>
        <p:nvSpPr>
          <p:cNvPr id="10" name="dsl:tier-high-bg"/>
          <p:cNvSpPr/>
          <p:nvPr/>
        </p:nvSpPr>
        <p:spPr>
          <a:xfrm>
            <a:off x="571500" y="1581150"/>
            <a:ext cx="3524250" cy="200025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ier-high-badge"/>
          <p:cNvSpPr/>
          <p:nvPr/>
        </p:nvSpPr>
        <p:spPr>
          <a:xfrm>
            <a:off x="571500" y="1581150"/>
            <a:ext cx="3524250" cy="3429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ier-high-badge-text"/>
          <p:cNvSpPr txBox="1"/>
          <p:nvPr/>
        </p:nvSpPr>
        <p:spPr>
          <a:xfrm>
            <a:off x="571500" y="1581150"/>
            <a:ext cx="35242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0"/>
                </a:solidFill>
                <a:latin typeface="Liter"/>
                <a:ea typeface="Liter"/>
              </a:rPr>
              <a:t>HIGH CONFIDENCE  0.90 — 1.00</a:t>
            </a:r>
          </a:p>
        </p:txBody>
      </p:sp>
      <p:pic>
        <p:nvPicPr>
          <p:cNvPr id="13" name="dsl:tier-high-icon|i=fas:file-code" descr="tmpcod1dz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764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ier-high-title"/>
          <p:cNvSpPr txBox="1"/>
          <p:nvPr/>
        </p:nvSpPr>
        <p:spPr>
          <a:xfrm>
            <a:off x="1143000" y="2038350"/>
            <a:ext cx="27622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SBOM JSON</a:t>
            </a:r>
          </a:p>
        </p:txBody>
      </p:sp>
      <p:sp>
        <p:nvSpPr>
          <p:cNvPr id="15" name="dsl:tier-high-text"/>
          <p:cNvSpPr txBox="1"/>
          <p:nvPr/>
        </p:nvSpPr>
        <p:spPr>
          <a:xfrm>
            <a:off x="762000" y="2457450"/>
            <a:ext cx="314325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CycloneDX, SPDX formats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Structured, deterministic parsing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CPE extraction with exact matching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34D399"/>
                </a:solidFill>
                <a:latin typeface="QuattrocentoSans"/>
                <a:ea typeface="QuattrocentoSans"/>
              </a:rPr>
              <a:t>Auto-action enabled</a:t>
            </a:r>
          </a:p>
        </p:txBody>
      </p:sp>
      <p:sp>
        <p:nvSpPr>
          <p:cNvPr id="16" name="dsl:tier-med-bg"/>
          <p:cNvSpPr/>
          <p:nvPr/>
        </p:nvSpPr>
        <p:spPr>
          <a:xfrm>
            <a:off x="4286250" y="1581150"/>
            <a:ext cx="3524250" cy="200025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ier-med-badge"/>
          <p:cNvSpPr/>
          <p:nvPr/>
        </p:nvSpPr>
        <p:spPr>
          <a:xfrm>
            <a:off x="4286250" y="1581150"/>
            <a:ext cx="3524250" cy="3429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ier-med-badge-text"/>
          <p:cNvSpPr txBox="1"/>
          <p:nvPr/>
        </p:nvSpPr>
        <p:spPr>
          <a:xfrm>
            <a:off x="4286250" y="1581150"/>
            <a:ext cx="35242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0"/>
                </a:solidFill>
                <a:latin typeface="Liter"/>
                <a:ea typeface="Liter"/>
              </a:rPr>
              <a:t>MEDIUM CONFIDENCE  0.50 — 0.89</a:t>
            </a:r>
          </a:p>
        </p:txBody>
      </p:sp>
      <p:pic>
        <p:nvPicPr>
          <p:cNvPr id="19" name="dsl:tier-med-icon|i=fas:image" descr="tmpyrxfhq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20764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ier-med-title"/>
          <p:cNvSpPr txBox="1"/>
          <p:nvPr/>
        </p:nvSpPr>
        <p:spPr>
          <a:xfrm>
            <a:off x="4857750" y="2038350"/>
            <a:ext cx="27622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Screenshot OCR</a:t>
            </a:r>
          </a:p>
        </p:txBody>
      </p:sp>
      <p:sp>
        <p:nvSpPr>
          <p:cNvPr id="21" name="dsl:tier-med-text"/>
          <p:cNvSpPr txBox="1"/>
          <p:nvPr/>
        </p:nvSpPr>
        <p:spPr>
          <a:xfrm>
            <a:off x="4476750" y="2457450"/>
            <a:ext cx="314325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pytesseract / easyocr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Preprocessing + ensemble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NER-based CPE extraction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60A5FA"/>
                </a:solidFill>
                <a:latin typeface="QuattrocentoSans"/>
                <a:ea typeface="QuattrocentoSans"/>
              </a:rPr>
              <a:t>Suggest with confirmation</a:t>
            </a:r>
          </a:p>
        </p:txBody>
      </p:sp>
      <p:sp>
        <p:nvSpPr>
          <p:cNvPr id="22" name="dsl:tier-low-bg"/>
          <p:cNvSpPr/>
          <p:nvPr/>
        </p:nvSpPr>
        <p:spPr>
          <a:xfrm>
            <a:off x="8001000" y="1581150"/>
            <a:ext cx="3619500" cy="2000250"/>
          </a:xfrm>
          <a:prstGeom prst="rect">
            <a:avLst/>
          </a:prstGeom>
          <a:solidFill>
            <a:srgbClr val="1E293B"/>
          </a:solidFill>
          <a:ln w="25400">
            <a:solidFill>
              <a:srgbClr val="F8717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tier-low-badge"/>
          <p:cNvSpPr/>
          <p:nvPr/>
        </p:nvSpPr>
        <p:spPr>
          <a:xfrm>
            <a:off x="8001000" y="1581150"/>
            <a:ext cx="3619500" cy="3429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ier-low-badge-text"/>
          <p:cNvSpPr txBox="1"/>
          <p:nvPr/>
        </p:nvSpPr>
        <p:spPr>
          <a:xfrm>
            <a:off x="8001000" y="1581150"/>
            <a:ext cx="3619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F1720"/>
                </a:solidFill>
                <a:latin typeface="Liter"/>
                <a:ea typeface="Liter"/>
              </a:rPr>
              <a:t>LOW CONFIDENCE  &lt; 0.50</a:t>
            </a:r>
          </a:p>
        </p:txBody>
      </p:sp>
      <p:pic>
        <p:nvPicPr>
          <p:cNvPr id="25" name="dsl:tier-low-icon|i=fas:triangle-exclamation" descr="tmpw3ionco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0764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tier-low-title"/>
          <p:cNvSpPr txBox="1"/>
          <p:nvPr/>
        </p:nvSpPr>
        <p:spPr>
          <a:xfrm>
            <a:off x="8572500" y="2038350"/>
            <a:ext cx="2857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1F5F9"/>
                </a:solidFill>
                <a:latin typeface="QuattrocentoSans"/>
                <a:ea typeface="QuattrocentoSans"/>
              </a:rPr>
              <a:t>Ambiguous / Failed</a:t>
            </a:r>
          </a:p>
        </p:txBody>
      </p:sp>
      <p:sp>
        <p:nvSpPr>
          <p:cNvPr id="27" name="dsl:tier-low-text"/>
          <p:cNvSpPr txBox="1"/>
          <p:nvPr/>
        </p:nvSpPr>
        <p:spPr>
          <a:xfrm>
            <a:off x="8191500" y="2457450"/>
            <a:ext cx="32385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Unclear software names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Failed OCR extraction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94A3B8"/>
                </a:solidFill>
                <a:latin typeface="QuattrocentoSans"/>
                <a:ea typeface="QuattrocentoSans"/>
              </a:rPr>
              <a:t>Missing version numbers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87171"/>
                </a:solidFill>
                <a:latin typeface="QuattrocentoSans"/>
                <a:ea typeface="QuattrocentoSans"/>
              </a:rPr>
              <a:t>Flag for human review</a:t>
            </a:r>
          </a:p>
        </p:txBody>
      </p:sp>
      <p:graphicFrame>
        <p:nvGraphicFramePr>
          <p:cNvPr id="28" name="dsl:mm-chart"/>
          <p:cNvGraphicFramePr>
            <a:graphicFrameLocks noGrp="1"/>
          </p:cNvGraphicFramePr>
          <p:nvPr/>
        </p:nvGraphicFramePr>
        <p:xfrm>
          <a:off x="571500" y="3771900"/>
          <a:ext cx="11049000" cy="23241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dsl:mm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30" name="dsl:mm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num"/>
          <p:cNvSpPr txBox="1"/>
          <p:nvPr/>
        </p:nvSpPr>
        <p:spPr>
          <a:xfrm>
            <a:off x="571500" y="1524000"/>
            <a:ext cx="28575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5400" noProof="1">
                <a:solidFill>
                  <a:srgbClr val="E9A23B"/>
                </a:solidFill>
                <a:latin typeface="Liter"/>
                <a:ea typeface="Liter"/>
              </a:rPr>
              <a:t>03</a:t>
            </a:r>
          </a:p>
        </p:txBody>
      </p:sp>
      <p:sp>
        <p:nvSpPr>
          <p:cNvPr id="3" name="dsl:ch3-accent"/>
          <p:cNvSpPr/>
          <p:nvPr/>
        </p:nvSpPr>
        <p:spPr>
          <a:xfrm>
            <a:off x="571500" y="2762250"/>
            <a:ext cx="762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3-title|s=$cover_title"/>
          <p:cNvSpPr txBox="1"/>
          <p:nvPr/>
        </p:nvSpPr>
        <p:spPr>
          <a:xfrm>
            <a:off x="571500" y="2952750"/>
            <a:ext cx="8572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noProof="1" spc="300">
                <a:solidFill>
                  <a:srgbClr val="E9A23B"/>
                </a:solidFill>
                <a:latin typeface="Liter"/>
                <a:ea typeface="Liter"/>
              </a:rPr>
              <a:t>REGULATORY &amp; ARCHITECTURE</a:t>
            </a:r>
          </a:p>
        </p:txBody>
      </p:sp>
      <p:sp>
        <p:nvSpPr>
          <p:cNvPr id="5" name="dsl:ch3-subtitle"/>
          <p:cNvSpPr txBox="1"/>
          <p:nvPr/>
        </p:nvSpPr>
        <p:spPr>
          <a:xfrm>
            <a:off x="571500" y="3714750"/>
            <a:ext cx="6667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noProof="1">
                <a:solidFill>
                  <a:srgbClr val="94A3B8"/>
                </a:solidFill>
                <a:latin typeface="QuattrocentoSans"/>
                <a:ea typeface="QuattrocentoSans"/>
              </a:rPr>
              <a:t>Compliance mapping, system design, and the path forward</a:t>
            </a:r>
          </a:p>
        </p:txBody>
      </p:sp>
      <p:sp>
        <p:nvSpPr>
          <p:cNvPr id="6" name="dsl:ch3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7" name="dsl:ch3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"/>
          <p:cNvSpPr txBox="1"/>
          <p:nvPr/>
        </p:nvSpPr>
        <p:spPr>
          <a:xfrm>
            <a:off x="0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2|s=$nav"/>
          <p:cNvSpPr txBox="1"/>
          <p:nvPr/>
        </p:nvSpPr>
        <p:spPr>
          <a:xfrm>
            <a:off x="4067175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5" name="dsl:nav-3|s=$nav_active"/>
          <p:cNvSpPr txBox="1"/>
          <p:nvPr/>
        </p:nvSpPr>
        <p:spPr>
          <a:xfrm>
            <a:off x="8124825" y="0"/>
            <a:ext cx="4067175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6" name="dsl:nav-3-indicator"/>
          <p:cNvSpPr/>
          <p:nvPr/>
        </p:nvSpPr>
        <p:spPr>
          <a:xfrm>
            <a:off x="9496425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REGULATORY MAPPING: COMPLIANCE BY DESIGN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eg-intro"/>
          <p:cNvSpPr txBox="1"/>
          <p:nvPr/>
        </p:nvSpPr>
        <p:spPr>
          <a:xfrm>
            <a:off x="571500" y="1085850"/>
            <a:ext cx="11049000" cy="3429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Every architectural decision is mapped to a regulatory requirement. </a:t>
            </a: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Compliance is not an afterthought — it is the foundation.</a:t>
            </a:r>
          </a:p>
        </p:txBody>
      </p:sp>
      <p:graphicFrame>
        <p:nvGraphicFramePr>
          <p:cNvPr id="10" name="dsl:reg-table"/>
          <p:cNvGraphicFramePr>
            <a:graphicFrameLocks noGrp="1"/>
          </p:cNvGraphicFramePr>
          <p:nvPr/>
        </p:nvGraphicFramePr>
        <p:xfrm>
          <a:off x="571500" y="1562100"/>
          <a:ext cx="11049000" cy="44767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2430780"/>
                <a:gridCol w="3314700"/>
                <a:gridCol w="3093720"/>
              </a:tblGrid>
              <a:tr h="4476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1F5F9"/>
                          </a:solidFill>
                          <a:latin typeface="QuattrocentoSans"/>
                          <a:ea typeface="QuattrocentoSans"/>
                        </a:rPr>
                        <a:t>Regulation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1F5F9"/>
                          </a:solidFill>
                          <a:latin typeface="QuattrocentoSans"/>
                          <a:ea typeface="QuattrocentoSans"/>
                        </a:rPr>
                        <a:t>Key Requirements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1F5F9"/>
                          </a:solidFill>
                          <a:latin typeface="QuattrocentoSans"/>
                          <a:ea typeface="QuattrocentoSans"/>
                        </a:rPr>
                        <a:t>Our Implementation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 b="1">
                          <a:solidFill>
                            <a:srgbClr val="F1F5F9"/>
                          </a:solidFill>
                          <a:latin typeface="QuattrocentoSans"/>
                          <a:ea typeface="QuattrocentoSans"/>
                        </a:rPr>
                        <a:t>Risk if Non-Compliant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</a:tr>
              <a:tr h="805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EU AI Act</a:t>
                      </a:r>
                    </a:p>
                    <a:p>
                      <a:pPr algn="ctr"/>
                      <a:r>
                        <a:rPr sz="900" noProof="1" b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2024/1689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10 Data Gov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13 Transparency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14 HITL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15 Accuracy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Bias audit, confidence scoring, explainable matching, FP/FN tracking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Fines up to 7% global turnover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05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NIS2</a:t>
                      </a:r>
                    </a:p>
                    <a:p>
                      <a:pPr algn="ctr"/>
                      <a:r>
                        <a:rPr sz="900" noProof="1" b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2022/0385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23 Risk analysis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Vulnerability handling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Incident response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Proactive scanning, risk-based prioritization, audit trails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Administrative sanctions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</a:tr>
              <a:tr h="805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Cyber Resilience Act</a:t>
                      </a:r>
                    </a:p>
                    <a:p>
                      <a:pPr algn="ctr"/>
                      <a:r>
                        <a:rPr sz="900" noProof="1" b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2024/2847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10 No known vulns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13 SBOMs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Art. 14 Vuln handling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SBOM scanning validates CRA compliance, NVD matching proves "no known vulns"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Non-conformity penalties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805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GDPR Art. 32</a:t>
                      </a:r>
                    </a:p>
                    <a:p>
                      <a:pPr algn="ctr"/>
                      <a:r>
                        <a:rPr sz="900" noProof="1" b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2016/679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Security of processing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Appropriate technical measures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Privacy-by-default, local-first processing, no cloud upload of proprietary SBOMs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Fines up to 4% turnover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A2332"/>
                    </a:solidFill>
                  </a:tcPr>
                </a:tc>
              </a:tr>
              <a:tr h="8058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NIST AI RMF</a:t>
                      </a:r>
                    </a:p>
                    <a:p>
                      <a:pPr algn="ctr"/>
                      <a:r>
                        <a:rPr sz="900" noProof="1" b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1.0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GOVERN, MAP</a:t>
                      </a:r>
                    </a:p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MEASURE, MANAGE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Audit trails, bias audit, calibration metrics, HITL fallback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050" noProof="1">
                          <a:solidFill>
                            <a:srgbClr val="94A3B8"/>
                          </a:solidFill>
                          <a:latin typeface="QuattrocentoSans"/>
                          <a:ea typeface="QuattrocentoSans"/>
                        </a:rPr>
                        <a:t>Reputational risk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dsl:reg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12" name="dsl:reg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"/>
          <p:cNvSpPr txBox="1"/>
          <p:nvPr/>
        </p:nvSpPr>
        <p:spPr>
          <a:xfrm>
            <a:off x="0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2|s=$nav"/>
          <p:cNvSpPr txBox="1"/>
          <p:nvPr/>
        </p:nvSpPr>
        <p:spPr>
          <a:xfrm>
            <a:off x="4067175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5" name="dsl:nav-3|s=$nav_active"/>
          <p:cNvSpPr txBox="1"/>
          <p:nvPr/>
        </p:nvSpPr>
        <p:spPr>
          <a:xfrm>
            <a:off x="8124825" y="0"/>
            <a:ext cx="4067175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6" name="dsl:nav-3-indicator"/>
          <p:cNvSpPr/>
          <p:nvPr/>
        </p:nvSpPr>
        <p:spPr>
          <a:xfrm>
            <a:off x="9496425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PROPOSED ARCHITECTURE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arch-input-bg"/>
          <p:cNvSpPr/>
          <p:nvPr/>
        </p:nvSpPr>
        <p:spPr>
          <a:xfrm>
            <a:off x="571500" y="1181100"/>
            <a:ext cx="3429000" cy="762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arch-input-text"/>
          <p:cNvSpPr txBox="1"/>
          <p:nvPr/>
        </p:nvSpPr>
        <p:spPr>
          <a:xfrm>
            <a:off x="571500" y="1181100"/>
            <a:ext cx="342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050" noProof="1">
                <a:solidFill>
                  <a:srgbClr val="0F1720"/>
                </a:solidFill>
                <a:latin typeface="QuattrocentoSans"/>
                <a:ea typeface="QuattrocentoSans"/>
              </a:rPr>
              <a:t>INPUT LAYER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SBOM JSON | Screenshot | Manual List</a:t>
            </a:r>
          </a:p>
        </p:txBody>
      </p:sp>
      <p:cxnSp>
        <p:nvCxnSpPr>
          <p:cNvPr id="11" name="dsl:arch-arrow-1"/>
          <p:cNvCxnSpPr/>
          <p:nvPr/>
        </p:nvCxnSpPr>
        <p:spPr>
          <a:xfrm>
            <a:off x="2286000" y="1943100"/>
            <a:ext cx="0" cy="342900"/>
          </a:xfrm>
          <a:prstGeom prst="straightConnector1">
            <a:avLst/>
          </a:prstGeom>
          <a:ln w="25400">
            <a:solidFill>
              <a:srgbClr val="E9A23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arch-extract-bg"/>
          <p:cNvSpPr/>
          <p:nvPr/>
        </p:nvSpPr>
        <p:spPr>
          <a:xfrm>
            <a:off x="571500" y="2286000"/>
            <a:ext cx="3429000" cy="9525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arch-extract-text"/>
          <p:cNvSpPr txBox="1"/>
          <p:nvPr/>
        </p:nvSpPr>
        <p:spPr>
          <a:xfrm>
            <a:off x="571500" y="2286000"/>
            <a:ext cx="3429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050" noProof="1">
                <a:solidFill>
                  <a:srgbClr val="0F1720"/>
                </a:solidFill>
                <a:latin typeface="QuattrocentoSans"/>
                <a:ea typeface="QuattrocentoSans"/>
              </a:rPr>
              <a:t>EXTRACTION &amp; CONFIDENCE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CPE Parser (0.95) | OCR+NER (0.65)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Fuzzy Matcher (0.75)</a:t>
            </a:r>
          </a:p>
        </p:txBody>
      </p:sp>
      <p:cxnSp>
        <p:nvCxnSpPr>
          <p:cNvPr id="14" name="dsl:arch-arrow-2"/>
          <p:cNvCxnSpPr/>
          <p:nvPr/>
        </p:nvCxnSpPr>
        <p:spPr>
          <a:xfrm>
            <a:off x="2286000" y="3238500"/>
            <a:ext cx="0" cy="342900"/>
          </a:xfrm>
          <a:prstGeom prst="straightConnector1">
            <a:avLst/>
          </a:prstGeom>
          <a:ln w="25400">
            <a:solidFill>
              <a:srgbClr val="E9A23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arch-match-bg"/>
          <p:cNvSpPr/>
          <p:nvPr/>
        </p:nvSpPr>
        <p:spPr>
          <a:xfrm>
            <a:off x="571500" y="3581400"/>
            <a:ext cx="3429000" cy="9525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arch-match-text"/>
          <p:cNvSpPr txBox="1"/>
          <p:nvPr/>
        </p:nvSpPr>
        <p:spPr>
          <a:xfrm>
            <a:off x="571500" y="3581400"/>
            <a:ext cx="3429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050" noProof="1">
                <a:solidFill>
                  <a:srgbClr val="0F1720"/>
                </a:solidFill>
                <a:latin typeface="QuattrocentoSans"/>
                <a:ea typeface="QuattrocentoSans"/>
              </a:rPr>
              <a:t>NVD MATCHING ENGINE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DuckDB Cache | Semantic CPE Match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Version Range | Temporal Scoring</a:t>
            </a:r>
          </a:p>
        </p:txBody>
      </p:sp>
      <p:cxnSp>
        <p:nvCxnSpPr>
          <p:cNvPr id="17" name="dsl:arch-arrow-3"/>
          <p:cNvCxnSpPr/>
          <p:nvPr/>
        </p:nvCxnSpPr>
        <p:spPr>
          <a:xfrm>
            <a:off x="2286000" y="4533900"/>
            <a:ext cx="0" cy="342900"/>
          </a:xfrm>
          <a:prstGeom prst="straightConnector1">
            <a:avLst/>
          </a:prstGeom>
          <a:ln w="25400">
            <a:solidFill>
              <a:srgbClr val="E9A23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arch-output-bg"/>
          <p:cNvSpPr/>
          <p:nvPr/>
        </p:nvSpPr>
        <p:spPr>
          <a:xfrm>
            <a:off x="571500" y="4876800"/>
            <a:ext cx="3429000" cy="9525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arch-output-text"/>
          <p:cNvSpPr txBox="1"/>
          <p:nvPr/>
        </p:nvSpPr>
        <p:spPr>
          <a:xfrm>
            <a:off x="571500" y="4876800"/>
            <a:ext cx="3429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050" noProof="1">
                <a:solidFill>
                  <a:srgbClr val="0F1720"/>
                </a:solidFill>
                <a:latin typeface="QuattrocentoSans"/>
                <a:ea typeface="QuattrocentoSans"/>
              </a:rPr>
              <a:t>RESPONSIBLE AI OUTPUT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Explainable | Risk Score</a:t>
            </a:r>
          </a:p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0F1720"/>
                </a:solidFill>
                <a:latin typeface="QuattrocentoSans"/>
                <a:ea typeface="QuattrocentoSans"/>
              </a:rPr>
              <a:t>CVSS x EPSS x Confidence | HITL</a:t>
            </a:r>
          </a:p>
        </p:txBody>
      </p:sp>
      <p:cxnSp>
        <p:nvCxnSpPr>
          <p:cNvPr id="20" name="dsl:arch-arrow-4"/>
          <p:cNvCxnSpPr/>
          <p:nvPr/>
        </p:nvCxnSpPr>
        <p:spPr>
          <a:xfrm>
            <a:off x="2286000" y="5829300"/>
            <a:ext cx="0" cy="76200"/>
          </a:xfrm>
          <a:prstGeom prst="straightConnector1">
            <a:avLst/>
          </a:prstGeom>
          <a:ln w="25400">
            <a:solidFill>
              <a:srgbClr val="E9A23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arch-audit-bg"/>
          <p:cNvSpPr/>
          <p:nvPr/>
        </p:nvSpPr>
        <p:spPr>
          <a:xfrm>
            <a:off x="571500" y="5905500"/>
            <a:ext cx="3429000" cy="2857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arch-audit-text"/>
          <p:cNvSpPr txBox="1"/>
          <p:nvPr/>
        </p:nvSpPr>
        <p:spPr>
          <a:xfrm>
            <a:off x="571500" y="5905500"/>
            <a:ext cx="342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900" noProof="1">
                <a:solidFill>
                  <a:srgbClr val="0F1720"/>
                </a:solidFill>
                <a:latin typeface="QuattrocentoSans"/>
                <a:ea typeface="QuattrocentoSans"/>
              </a:rPr>
              <a:t>AUDIT &amp; COMPLIANCE LOG</a:t>
            </a:r>
          </a:p>
        </p:txBody>
      </p:sp>
      <p:sp>
        <p:nvSpPr>
          <p:cNvPr id="23" name="dsl:arch-details-title"/>
          <p:cNvSpPr txBox="1"/>
          <p:nvPr/>
        </p:nvSpPr>
        <p:spPr>
          <a:xfrm>
            <a:off x="4381500" y="1181100"/>
            <a:ext cx="7239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1F5F9"/>
                </a:solidFill>
                <a:latin typeface="Liter"/>
                <a:ea typeface="Liter"/>
              </a:rPr>
              <a:t>TECH STACK &amp; DESIGN DECISIONS</a:t>
            </a:r>
          </a:p>
        </p:txBody>
      </p:sp>
      <p:sp>
        <p:nvSpPr>
          <p:cNvPr id="24" name="dsl:arch-details-line"/>
          <p:cNvSpPr/>
          <p:nvPr/>
        </p:nvSpPr>
        <p:spPr>
          <a:xfrm>
            <a:off x="4381500" y="1562100"/>
            <a:ext cx="762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arch-details-text"/>
          <p:cNvSpPr txBox="1"/>
          <p:nvPr/>
        </p:nvSpPr>
        <p:spPr>
          <a:xfrm>
            <a:off x="4381500" y="1714500"/>
            <a:ext cx="7239000" cy="438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Core: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Python 3.11, Polars, DuckDB, sentence-transformers, easyocr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Responsible AI: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SHAP/LIME explainability, MLflow versioning, bias monitoring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Key Design Decisions: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Local-first processing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no cloud upload of proprietary SBOMs (GDPR Art. 32)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Immutable audit logs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timestamp, input hash, model version, output, confidence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Confidence calibration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Platt scaling on extraction pipeline outputs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Human-in-the-Loop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tiered response: auto (&gt;0.9), suggest (0.5-0.9), flag (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&lt;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0.5)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• </a:t>
            </a:r>
            <a:r>
              <a:rPr b="1" sz="1200" noProof="1">
                <a:solidFill>
                  <a:srgbClr val="94A3B8"/>
                </a:solidFill>
                <a:latin typeface="QuattrocentoSans"/>
                <a:ea typeface="QuattrocentoSans"/>
              </a:rPr>
              <a:t>Bias dashboard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— real-time Gini coefficient, temporal lag by vendor category</a:t>
            </a:r>
          </a:p>
        </p:txBody>
      </p:sp>
      <p:sp>
        <p:nvSpPr>
          <p:cNvPr id="26" name="dsl:arch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27" name="dsl:arch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1|s=$nav"/>
          <p:cNvSpPr txBox="1"/>
          <p:nvPr/>
        </p:nvSpPr>
        <p:spPr>
          <a:xfrm>
            <a:off x="0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01  PROJECT VISION</a:t>
            </a:r>
          </a:p>
        </p:txBody>
      </p:sp>
      <p:sp>
        <p:nvSpPr>
          <p:cNvPr id="4" name="dsl:nav-2|s=$nav"/>
          <p:cNvSpPr txBox="1"/>
          <p:nvPr/>
        </p:nvSpPr>
        <p:spPr>
          <a:xfrm>
            <a:off x="4067175" y="0"/>
            <a:ext cx="40576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94A3B8"/>
                </a:solidFill>
                <a:latin typeface="QuattrocentoSans"/>
                <a:ea typeface="QuattrocentoSans"/>
              </a:rPr>
              <a:t>02  WEEK 1 DEEP DIVE</a:t>
            </a:r>
          </a:p>
        </p:txBody>
      </p:sp>
      <p:sp>
        <p:nvSpPr>
          <p:cNvPr id="5" name="dsl:nav-3|s=$nav_active"/>
          <p:cNvSpPr txBox="1"/>
          <p:nvPr/>
        </p:nvSpPr>
        <p:spPr>
          <a:xfrm>
            <a:off x="8124825" y="0"/>
            <a:ext cx="4067175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900" noProof="1" spc="75">
                <a:solidFill>
                  <a:srgbClr val="F1F5F9"/>
                </a:solidFill>
                <a:latin typeface="QuattrocentoSans"/>
                <a:ea typeface="QuattrocentoSans"/>
              </a:rPr>
              <a:t>03  REGULATORY &amp; ARCHITECTURE</a:t>
            </a:r>
          </a:p>
        </p:txBody>
      </p:sp>
      <p:sp>
        <p:nvSpPr>
          <p:cNvPr id="6" name="dsl:nav-3-indicator"/>
          <p:cNvSpPr/>
          <p:nvPr/>
        </p:nvSpPr>
        <p:spPr>
          <a:xfrm>
            <a:off x="9496425" y="304800"/>
            <a:ext cx="133350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page-title|s=$title"/>
          <p:cNvSpPr txBox="1"/>
          <p:nvPr/>
        </p:nvSpPr>
        <p:spPr>
          <a:xfrm>
            <a:off x="571500" y="53340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100" noProof="1">
                <a:solidFill>
                  <a:srgbClr val="F1F5F9"/>
                </a:solidFill>
                <a:latin typeface="Liter"/>
                <a:ea typeface="Liter"/>
              </a:rPr>
              <a:t>CHALLENGES &amp; NEXT STEPS</a:t>
            </a:r>
          </a:p>
        </p:txBody>
      </p:sp>
      <p:sp>
        <p:nvSpPr>
          <p:cNvPr id="8" name="dsl:title-accent"/>
          <p:cNvSpPr/>
          <p:nvPr/>
        </p:nvSpPr>
        <p:spPr>
          <a:xfrm>
            <a:off x="571500" y="952500"/>
            <a:ext cx="9525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hal-text"/>
          <p:cNvSpPr txBox="1"/>
          <p:nvPr/>
        </p:nvSpPr>
        <p:spPr>
          <a:xfrm>
            <a:off x="571500" y="1123950"/>
            <a:ext cx="59055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1. NVD Data Volume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~2GB+ compressed JSON. Polars/DuckDB optimization needed.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2. CPE Matching Ambiguity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Software names in SBOMs don't match NVD fields. Semantic similarity + fuzzy matching.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3. OCR Errors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Low-res images, unusual fonts. Preprocessing + ensemble approach.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4. Version Range Resolution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Complex semver logic in NVD CPEs. Explicit range intersection.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F1F5F9"/>
                </a:solidFill>
                <a:latin typeface="QuattrocentoSans"/>
                <a:ea typeface="QuattrocentoSans"/>
              </a:rPr>
              <a:t>5. Responsible AI Metrics</a:t>
            </a: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 No standard bias metric for vulnerability DBs. We define our own.</a:t>
            </a:r>
          </a:p>
        </p:txBody>
      </p:sp>
      <p:sp>
        <p:nvSpPr>
          <p:cNvPr id="10" name="dsl:timeline-title"/>
          <p:cNvSpPr txBox="1"/>
          <p:nvPr/>
        </p:nvSpPr>
        <p:spPr>
          <a:xfrm>
            <a:off x="571500" y="447675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1F5F9"/>
                </a:solidFill>
                <a:latin typeface="Liter"/>
                <a:ea typeface="Liter"/>
              </a:rPr>
              <a:t>PROJECT TIMELINE</a:t>
            </a:r>
          </a:p>
        </p:txBody>
      </p:sp>
      <p:sp>
        <p:nvSpPr>
          <p:cNvPr id="11" name="dsl:timeline-line"/>
          <p:cNvSpPr/>
          <p:nvPr/>
        </p:nvSpPr>
        <p:spPr>
          <a:xfrm>
            <a:off x="571500" y="4857750"/>
            <a:ext cx="59055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l-w1-dot"/>
          <p:cNvSpPr/>
          <p:nvPr/>
        </p:nvSpPr>
        <p:spPr>
          <a:xfrm>
            <a:off x="742950" y="4800600"/>
            <a:ext cx="133350" cy="13335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l-w1-label"/>
          <p:cNvSpPr txBox="1"/>
          <p:nvPr/>
        </p:nvSpPr>
        <p:spPr>
          <a:xfrm>
            <a:off x="571500" y="4991100"/>
            <a:ext cx="952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900" noProof="1">
                <a:solidFill>
                  <a:srgbClr val="E9A23B"/>
                </a:solidFill>
                <a:latin typeface="QuattrocentoSans"/>
                <a:ea typeface="QuattrocentoSans"/>
              </a:rPr>
              <a:t>W1</a:t>
            </a:r>
          </a:p>
          <a:p>
            <a:pPr algn="ctr">
              <a:lnSpc>
                <a:spcPct val="140000"/>
              </a:lnSpc>
            </a:pPr>
            <a:r>
              <a:rPr sz="900" noProof="1">
                <a:solidFill>
                  <a:srgbClr val="94A3B8"/>
                </a:solidFill>
                <a:latin typeface="QuattrocentoSans"/>
                <a:ea typeface="QuattrocentoSans"/>
              </a:rPr>
              <a:t>Data Analysis</a:t>
            </a:r>
          </a:p>
        </p:txBody>
      </p:sp>
      <p:sp>
        <p:nvSpPr>
          <p:cNvPr id="14" name="dsl:tl-w2-dot"/>
          <p:cNvSpPr/>
          <p:nvPr/>
        </p:nvSpPr>
        <p:spPr>
          <a:xfrm>
            <a:off x="2076450" y="4800600"/>
            <a:ext cx="133350" cy="13335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l-w2-label"/>
          <p:cNvSpPr txBox="1"/>
          <p:nvPr/>
        </p:nvSpPr>
        <p:spPr>
          <a:xfrm>
            <a:off x="1905000" y="4991100"/>
            <a:ext cx="952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900" noProof="1">
                <a:solidFill>
                  <a:srgbClr val="F1F5F9"/>
                </a:solidFill>
                <a:latin typeface="QuattrocentoSans"/>
                <a:ea typeface="QuattrocentoSans"/>
              </a:rPr>
              <a:t>W2</a:t>
            </a:r>
          </a:p>
          <a:p>
            <a:pPr algn="ctr">
              <a:lnSpc>
                <a:spcPct val="140000"/>
              </a:lnSpc>
            </a:pPr>
            <a:r>
              <a:rPr sz="900" noProof="1">
                <a:solidFill>
                  <a:srgbClr val="94A3B8"/>
                </a:solidFill>
                <a:latin typeface="QuattrocentoSans"/>
                <a:ea typeface="QuattrocentoSans"/>
              </a:rPr>
              <a:t>CPE Pipeline</a:t>
            </a:r>
          </a:p>
        </p:txBody>
      </p:sp>
      <p:sp>
        <p:nvSpPr>
          <p:cNvPr id="16" name="dsl:tl-w3-dot"/>
          <p:cNvSpPr/>
          <p:nvPr/>
        </p:nvSpPr>
        <p:spPr>
          <a:xfrm>
            <a:off x="3409950" y="4800600"/>
            <a:ext cx="133350" cy="13335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l-w3-label"/>
          <p:cNvSpPr txBox="1"/>
          <p:nvPr/>
        </p:nvSpPr>
        <p:spPr>
          <a:xfrm>
            <a:off x="3238500" y="4991100"/>
            <a:ext cx="952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900" noProof="1">
                <a:solidFill>
                  <a:srgbClr val="F1F5F9"/>
                </a:solidFill>
                <a:latin typeface="QuattrocentoSans"/>
                <a:ea typeface="QuattrocentoSans"/>
              </a:rPr>
              <a:t>W3</a:t>
            </a:r>
          </a:p>
          <a:p>
            <a:pPr algn="ctr">
              <a:lnSpc>
                <a:spcPct val="140000"/>
              </a:lnSpc>
            </a:pPr>
            <a:r>
              <a:rPr sz="900" noProof="1">
                <a:solidFill>
                  <a:srgbClr val="94A3B8"/>
                </a:solidFill>
                <a:latin typeface="QuattrocentoSans"/>
                <a:ea typeface="QuattrocentoSans"/>
              </a:rPr>
              <a:t>NVD Engine</a:t>
            </a:r>
          </a:p>
        </p:txBody>
      </p:sp>
      <p:sp>
        <p:nvSpPr>
          <p:cNvPr id="18" name="dsl:tl-w4-dot"/>
          <p:cNvSpPr/>
          <p:nvPr/>
        </p:nvSpPr>
        <p:spPr>
          <a:xfrm>
            <a:off x="4743450" y="4800600"/>
            <a:ext cx="133350" cy="13335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l-w4-label"/>
          <p:cNvSpPr txBox="1"/>
          <p:nvPr/>
        </p:nvSpPr>
        <p:spPr>
          <a:xfrm>
            <a:off x="4572000" y="4991100"/>
            <a:ext cx="952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900" noProof="1">
                <a:solidFill>
                  <a:srgbClr val="F1F5F9"/>
                </a:solidFill>
                <a:latin typeface="QuattrocentoSans"/>
                <a:ea typeface="QuattrocentoSans"/>
              </a:rPr>
              <a:t>W4</a:t>
            </a:r>
          </a:p>
          <a:p>
            <a:pPr algn="ctr">
              <a:lnSpc>
                <a:spcPct val="140000"/>
              </a:lnSpc>
            </a:pPr>
            <a:r>
              <a:rPr sz="900" noProof="1">
                <a:solidFill>
                  <a:srgbClr val="94A3B8"/>
                </a:solidFill>
                <a:latin typeface="QuattrocentoSans"/>
                <a:ea typeface="QuattrocentoSans"/>
              </a:rPr>
              <a:t>AI Audit Layer</a:t>
            </a:r>
          </a:p>
        </p:txBody>
      </p:sp>
      <p:sp>
        <p:nvSpPr>
          <p:cNvPr id="20" name="dsl:tl-w5-dot"/>
          <p:cNvSpPr/>
          <p:nvPr/>
        </p:nvSpPr>
        <p:spPr>
          <a:xfrm>
            <a:off x="6076950" y="4800600"/>
            <a:ext cx="133350" cy="13335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l-w5-label"/>
          <p:cNvSpPr txBox="1"/>
          <p:nvPr/>
        </p:nvSpPr>
        <p:spPr>
          <a:xfrm>
            <a:off x="5905500" y="4991100"/>
            <a:ext cx="9525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900" noProof="1">
                <a:solidFill>
                  <a:srgbClr val="F1F5F9"/>
                </a:solidFill>
                <a:latin typeface="QuattrocentoSans"/>
                <a:ea typeface="QuattrocentoSans"/>
              </a:rPr>
              <a:t>W5</a:t>
            </a:r>
          </a:p>
          <a:p>
            <a:pPr algn="ctr">
              <a:lnSpc>
                <a:spcPct val="140000"/>
              </a:lnSpc>
            </a:pPr>
            <a:r>
              <a:rPr sz="900" noProof="1">
                <a:solidFill>
                  <a:srgbClr val="94A3B8"/>
                </a:solidFill>
                <a:latin typeface="QuattrocentoSans"/>
                <a:ea typeface="QuattrocentoSans"/>
              </a:rPr>
              <a:t>Final Demo</a:t>
            </a:r>
          </a:p>
        </p:txBody>
      </p:sp>
      <p:sp>
        <p:nvSpPr>
          <p:cNvPr id="22" name="dsl:status-title"/>
          <p:cNvSpPr txBox="1"/>
          <p:nvPr/>
        </p:nvSpPr>
        <p:spPr>
          <a:xfrm>
            <a:off x="6858000" y="112395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1F5F9"/>
                </a:solidFill>
                <a:latin typeface="Liter"/>
                <a:ea typeface="Liter"/>
              </a:rPr>
              <a:t>STATUS MEETING TALKING POINTS</a:t>
            </a:r>
          </a:p>
        </p:txBody>
      </p:sp>
      <p:sp>
        <p:nvSpPr>
          <p:cNvPr id="23" name="dsl:status-line"/>
          <p:cNvSpPr/>
          <p:nvPr/>
        </p:nvSpPr>
        <p:spPr>
          <a:xfrm>
            <a:off x="6858000" y="1447800"/>
            <a:ext cx="762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status-text"/>
          <p:cNvSpPr txBox="1"/>
          <p:nvPr/>
        </p:nvSpPr>
        <p:spPr>
          <a:xfrm>
            <a:off x="6858000" y="1600200"/>
            <a:ext cx="4762500" cy="2762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What did we do this week?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Analyzed NVD dataset, discovered data quality gaps, identified vendor bias, completed regulatory mapping.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What were our challenges?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NVD volume requires optimized parsing, CPE matching is ambiguous, OCR is noisy, no standard bias metrics exist.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E9A23B"/>
                </a:solidFill>
                <a:latin typeface="QuattrocentoSans"/>
                <a:ea typeface="QuattrocentoSans"/>
              </a:rPr>
              <a:t>What are our next steps?</a:t>
            </a:r>
          </a:p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Build CPE extraction pipeline, implement NVD matching engine, add Responsible AI audit layer.</a:t>
            </a:r>
          </a:p>
        </p:txBody>
      </p:sp>
      <p:sp>
        <p:nvSpPr>
          <p:cNvPr id="25" name="dsl:chal-footer|s=$caption"/>
          <p:cNvSpPr txBox="1"/>
          <p:nvPr/>
        </p:nvSpPr>
        <p:spPr>
          <a:xfrm>
            <a:off x="571500" y="628650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Week 1 Status Meeting</a:t>
            </a:r>
          </a:p>
        </p:txBody>
      </p:sp>
      <p:sp>
        <p:nvSpPr>
          <p:cNvPr id="26" name="dsl:chal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final-title|s=$cover_title"/>
          <p:cNvSpPr txBox="1"/>
          <p:nvPr/>
        </p:nvSpPr>
        <p:spPr>
          <a:xfrm>
            <a:off x="2286000" y="2095500"/>
            <a:ext cx="7620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3600" noProof="1" spc="300">
                <a:solidFill>
                  <a:srgbClr val="E9A23B"/>
                </a:solidFill>
                <a:latin typeface="Liter"/>
                <a:ea typeface="Liter"/>
              </a:rPr>
              <a:t>THANK YOU</a:t>
            </a:r>
          </a:p>
        </p:txBody>
      </p:sp>
      <p:sp>
        <p:nvSpPr>
          <p:cNvPr id="3" name="dsl:final-accent"/>
          <p:cNvSpPr/>
          <p:nvPr/>
        </p:nvSpPr>
        <p:spPr>
          <a:xfrm>
            <a:off x="5143500" y="2952750"/>
            <a:ext cx="1905000" cy="28575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final-subtitle"/>
          <p:cNvSpPr txBox="1"/>
          <p:nvPr/>
        </p:nvSpPr>
        <p:spPr>
          <a:xfrm>
            <a:off x="2762250" y="3143250"/>
            <a:ext cx="66675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500" noProof="1">
                <a:solidFill>
                  <a:srgbClr val="F1F5F9"/>
                </a:solidFill>
                <a:latin typeface="QuattrocentoSans"/>
                <a:ea typeface="QuattrocentoSans"/>
              </a:rPr>
              <a:t>Questions &amp; Discussion</a:t>
            </a:r>
          </a:p>
        </p:txBody>
      </p:sp>
      <p:sp>
        <p:nvSpPr>
          <p:cNvPr id="5" name="dsl:final-contact"/>
          <p:cNvSpPr txBox="1"/>
          <p:nvPr/>
        </p:nvSpPr>
        <p:spPr>
          <a:xfrm>
            <a:off x="3238500" y="4000500"/>
            <a:ext cx="5715000" cy="952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[Your Team Name] | [Contact Email]</a:t>
            </a:r>
          </a:p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GitHub: [Your Repository Link]</a:t>
            </a:r>
          </a:p>
          <a:p>
            <a:pPr algn="ctr">
              <a:lnSpc>
                <a:spcPct val="160000"/>
              </a:lnSpc>
            </a:pPr>
            <a:r>
              <a:rPr sz="1200" noProof="1">
                <a:solidFill>
                  <a:srgbClr val="94A3B8"/>
                </a:solidFill>
                <a:latin typeface="QuattrocentoSans"/>
                <a:ea typeface="QuattrocentoSans"/>
              </a:rPr>
              <a:t>Responsible AI &amp; Data Ethics — Week 1</a:t>
            </a:r>
          </a:p>
        </p:txBody>
      </p:sp>
      <p:sp>
        <p:nvSpPr>
          <p:cNvPr id="6" name="dsl:final-pagenum|s=$caption"/>
          <p:cNvSpPr txBox="1"/>
          <p:nvPr/>
        </p:nvSpPr>
        <p:spPr>
          <a:xfrm>
            <a:off x="10858500" y="6286500"/>
            <a:ext cx="76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30000"/>
              </a:lnSpc>
            </a:pPr>
            <a:r>
              <a:rPr sz="900" noProof="1">
                <a:solidFill>
                  <a:srgbClr val="64748B"/>
                </a:solidFill>
                <a:latin typeface="QuattrocentoSans"/>
                <a:ea typeface="Quattrocento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a2332"/>
    <Color name="secondary" value="#334155"/>
    <Color name="accent" value="#e9a23b"/>
    <Color name="background" value="#0f1720"/>
    <Color name="text" value="#f1f5f9"/>
    <Color name="text_secondary" value="#94a3b8"/>
    <Color name="text_muted" value="#64748b"/>
    <Color name="card_bg" value="#1e293b"/>
    <Color name="chart_1" value="#e9a23b"/>
    <Color name="chart_2" value="#60a5fa"/>
    <Color name="chart_3" value="#34d399"/>
    <Color name="chart_4" value="#f87171"/>
    <Color name="chart_5" value="#a78bfa"/>
    <Color name="chart_6" value="#fbbf24"/>
  </Colors>
  <TextStyles>
    <TextStyle name="cover_title" font_size="40.0" color="$accent" font_family="Liter" line_height="1.2" letter_spacing="4.0"/>
    <TextStyle name="title" font_size="28.0" color="$text" font_family="Liter" line_height="1.3"/>
    <TextStyle name="subtitle" font_size="22.0" color="$text" font_family="QuattrocentoSans" line_height="1.4"/>
    <TextStyle name="body" font_size="18.0" color="$text_secondary" font_family="QuattrocentoSans" line_height="1.5"/>
    <TextStyle name="caption" font_size="12.0" color="$text_muted" font_family="QuattrocentoSans" line_height="1.3"/>
    <TextStyle name="kpi" font_size="36.0" color="$accent" font_family="Liter" line_height="1.2"/>
    <TextStyle name="nav" font_size="12.0" color="$text_secondary" font_family="QuattrocentoSans" line_height="1.2" letter_spacing="1.0"/>
    <TextStyle name="nav_active" font_size="12.0" color="$text" font_family="QuattrocentoSans" line_height="1.2" letter_spacing="1.0"/>
  </TextStyles>
  <TableStyles>
    <TableStyle name="default" fontSize="14.0" fontFamily="QuattrocentoSans" headerFill="$secondary" headerColor="$text" headerBold="true" bodyFill="$card_bg,$primary" bodyColor="$text_secondary" firstColumnBold="true">
      <Border style="solid" width="1.0" color="$secondary"/>
    </TableStyle>
  </TableStyles>
</DslMetadata>
</file>

<file path=customXml/itemProps1.xml><?xml version="1.0" encoding="utf-8"?>
<ns0:datastoreItem xmlns:ns0="http://schemas.openxmlformats.org/officeDocument/2006/customXml" ns0:itemID="{CDEB23C9-829F-4D34-96FE-998AA71DA52D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