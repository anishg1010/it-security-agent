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418320" y="-1371600"/>
            <a:ext cx="4572000" cy="4572000"/>
          </a:xfrm>
          <a:prstGeom prst="ellipse">
            <a:avLst/>
          </a:prstGeom>
          <a:solidFill>
            <a:srgbClr val="263A8C"/>
          </a:solidFill>
          <a:ln/>
        </p:spPr>
      </p:sp>
      <p:sp>
        <p:nvSpPr>
          <p:cNvPr id="3" name="Text 1"/>
          <p:cNvSpPr/>
          <p:nvPr/>
        </p:nvSpPr>
        <p:spPr>
          <a:xfrm>
            <a:off x="640080" y="2286000"/>
            <a:ext cx="8229600" cy="365760"/>
          </a:xfrm>
          <a:prstGeom prst="rect">
            <a:avLst/>
          </a:prstGeom>
          <a:noFill/>
          <a:ln/>
        </p:spPr>
        <p:txBody>
          <a:bodyPr wrap="square" rtlCol="0" anchor="ctr"/>
          <a:lstStyle/>
          <a:p>
            <a:pPr indent="0" marL="0">
              <a:buNone/>
            </a:pPr>
            <a:r>
              <a:rPr lang="en-US" sz="1400" b="1" spc="300" kern="0" dirty="0">
                <a:solidFill>
                  <a:srgbClr val="CADCFC"/>
                </a:solidFill>
                <a:latin typeface="Calibri" pitchFamily="34" charset="0"/>
                <a:ea typeface="Calibri" pitchFamily="34" charset="-122"/>
                <a:cs typeface="Calibri" pitchFamily="34" charset="-120"/>
              </a:rPr>
              <a:t>FROM SCAN TO RECOMMENDATION</a:t>
            </a:r>
            <a:endParaRPr lang="en-US" sz="1400" dirty="0"/>
          </a:p>
        </p:txBody>
      </p:sp>
      <p:sp>
        <p:nvSpPr>
          <p:cNvPr id="4" name="Text 2"/>
          <p:cNvSpPr/>
          <p:nvPr/>
        </p:nvSpPr>
        <p:spPr>
          <a:xfrm>
            <a:off x="640080" y="2651760"/>
            <a:ext cx="10058400" cy="10058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Extended Architecture</a:t>
            </a:r>
            <a:endParaRPr lang="en-US" sz="4000" dirty="0"/>
          </a:p>
        </p:txBody>
      </p:sp>
      <p:sp>
        <p:nvSpPr>
          <p:cNvPr id="5" name="Text 3"/>
          <p:cNvSpPr/>
          <p:nvPr/>
        </p:nvSpPr>
        <p:spPr>
          <a:xfrm>
            <a:off x="640080" y="3520440"/>
            <a:ext cx="9144000" cy="548640"/>
          </a:xfrm>
          <a:prstGeom prst="rect">
            <a:avLst/>
          </a:prstGeom>
          <a:noFill/>
          <a:ln/>
        </p:spPr>
        <p:txBody>
          <a:bodyPr wrap="square"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9 stages, walked through using one real example: Log4Shell (CVE-2021-44228)</a:t>
            </a:r>
            <a:endParaRPr lang="en-US" sz="1600" dirty="0"/>
          </a:p>
        </p:txBody>
      </p:sp>
      <p:sp>
        <p:nvSpPr>
          <p:cNvPr id="6" name="Text 4"/>
          <p:cNvSpPr/>
          <p:nvPr/>
        </p:nvSpPr>
        <p:spPr>
          <a:xfrm>
            <a:off x="640080" y="6035040"/>
            <a:ext cx="7315200" cy="365760"/>
          </a:xfrm>
          <a:prstGeom prst="rect">
            <a:avLst/>
          </a:prstGeom>
          <a:noFill/>
          <a:ln/>
        </p:spPr>
        <p:txBody>
          <a:bodyPr wrap="square" rtlCol="0" anchor="ctr"/>
          <a:lstStyle/>
          <a:p>
            <a:pPr indent="0" marL="0">
              <a:buNone/>
            </a:pPr>
            <a:r>
              <a:rPr lang="en-US" sz="1200" dirty="0">
                <a:solidFill>
                  <a:srgbClr val="9AA6D9"/>
                </a:solidFill>
                <a:latin typeface="Calibri" pitchFamily="34" charset="0"/>
                <a:ea typeface="Calibri" pitchFamily="34" charset="-122"/>
                <a:cs typeface="Calibri" pitchFamily="34" charset="-120"/>
              </a:rPr>
              <a:t>IT Security Agent | Responsible AI &amp; Data Ethics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rtlCol="0" anchor="ctr"/>
          <a:lstStyle/>
          <a:p>
            <a:pPr indent="0" marL="0">
              <a:buNone/>
            </a:pPr>
            <a:r>
              <a:rPr lang="en-US" sz="1200" b="1" spc="200" kern="0" dirty="0">
                <a:solidFill>
                  <a:srgbClr val="D85A30"/>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548640" y="594360"/>
            <a:ext cx="10972800" cy="73152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The Full 9-Stage Pipeline</a:t>
            </a:r>
            <a:endParaRPr lang="en-US" sz="2800" dirty="0"/>
          </a:p>
        </p:txBody>
      </p:sp>
      <p:sp>
        <p:nvSpPr>
          <p:cNvPr id="4" name="Shape 2"/>
          <p:cNvSpPr/>
          <p:nvPr/>
        </p:nvSpPr>
        <p:spPr>
          <a:xfrm>
            <a:off x="548640" y="1600200"/>
            <a:ext cx="3429000" cy="1371600"/>
          </a:xfrm>
          <a:prstGeom prst="roundRect">
            <a:avLst>
              <a:gd name="adj" fmla="val 5333"/>
            </a:avLst>
          </a:prstGeom>
          <a:solidFill>
            <a:srgbClr val="F4F6FC"/>
          </a:solidFill>
          <a:ln w="12700">
            <a:solidFill>
              <a:srgbClr val="185FA5"/>
            </a:solidFill>
            <a:prstDash val="solid"/>
          </a:ln>
        </p:spPr>
      </p:sp>
      <p:sp>
        <p:nvSpPr>
          <p:cNvPr id="5" name="Shape 3"/>
          <p:cNvSpPr/>
          <p:nvPr/>
        </p:nvSpPr>
        <p:spPr>
          <a:xfrm>
            <a:off x="731520" y="1783080"/>
            <a:ext cx="457200" cy="457200"/>
          </a:xfrm>
          <a:prstGeom prst="ellipse">
            <a:avLst/>
          </a:prstGeom>
          <a:solidFill>
            <a:srgbClr val="185FA5"/>
          </a:solidFill>
          <a:ln/>
        </p:spPr>
      </p:sp>
      <p:sp>
        <p:nvSpPr>
          <p:cNvPr id="6" name="Text 4"/>
          <p:cNvSpPr/>
          <p:nvPr/>
        </p:nvSpPr>
        <p:spPr>
          <a:xfrm>
            <a:off x="731520" y="17830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p:nvPr/>
        </p:nvSpPr>
        <p:spPr>
          <a:xfrm>
            <a:off x="1325880" y="1764792"/>
            <a:ext cx="2514600" cy="36576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Input</a:t>
            </a:r>
            <a:endParaRPr lang="en-US" sz="1500" dirty="0"/>
          </a:p>
        </p:txBody>
      </p:sp>
      <p:sp>
        <p:nvSpPr>
          <p:cNvPr id="8" name="Text 6"/>
          <p:cNvSpPr/>
          <p:nvPr/>
        </p:nvSpPr>
        <p:spPr>
          <a:xfrm>
            <a:off x="1325880" y="2148840"/>
            <a:ext cx="2514600" cy="365760"/>
          </a:xfrm>
          <a:prstGeom prst="rect">
            <a:avLst/>
          </a:prstGeom>
          <a:noFill/>
          <a:ln/>
        </p:spPr>
        <p:txBody>
          <a:bodyPr wrap="square" rtlCol="0" anchor="ctr"/>
          <a:lstStyle/>
          <a:p>
            <a:pPr indent="0" marL="0">
              <a:buNone/>
            </a:pPr>
            <a:r>
              <a:rPr lang="en-US" sz="1200" dirty="0">
                <a:solidFill>
                  <a:srgbClr val="6E6E80"/>
                </a:solidFill>
                <a:latin typeface="Calibri" pitchFamily="34" charset="0"/>
                <a:ea typeface="Calibri" pitchFamily="34" charset="-122"/>
                <a:cs typeface="Calibri" pitchFamily="34" charset="-120"/>
              </a:rPr>
              <a:t>SBOM / screenshot</a:t>
            </a:r>
            <a:endParaRPr lang="en-US" sz="1200" dirty="0"/>
          </a:p>
        </p:txBody>
      </p:sp>
      <p:sp>
        <p:nvSpPr>
          <p:cNvPr id="9" name="Shape 7"/>
          <p:cNvSpPr/>
          <p:nvPr/>
        </p:nvSpPr>
        <p:spPr>
          <a:xfrm>
            <a:off x="4297680" y="1600200"/>
            <a:ext cx="3429000" cy="1371600"/>
          </a:xfrm>
          <a:prstGeom prst="roundRect">
            <a:avLst>
              <a:gd name="adj" fmla="val 5333"/>
            </a:avLst>
          </a:prstGeom>
          <a:solidFill>
            <a:srgbClr val="F4F6FC"/>
          </a:solidFill>
          <a:ln w="12700">
            <a:solidFill>
              <a:srgbClr val="0F6E56"/>
            </a:solidFill>
            <a:prstDash val="solid"/>
          </a:ln>
        </p:spPr>
      </p:sp>
      <p:sp>
        <p:nvSpPr>
          <p:cNvPr id="10" name="Shape 8"/>
          <p:cNvSpPr/>
          <p:nvPr/>
        </p:nvSpPr>
        <p:spPr>
          <a:xfrm>
            <a:off x="4480560" y="1783080"/>
            <a:ext cx="457200" cy="457200"/>
          </a:xfrm>
          <a:prstGeom prst="ellipse">
            <a:avLst/>
          </a:prstGeom>
          <a:solidFill>
            <a:srgbClr val="0F6E56"/>
          </a:solidFill>
          <a:ln/>
        </p:spPr>
      </p:sp>
      <p:sp>
        <p:nvSpPr>
          <p:cNvPr id="11" name="Text 9"/>
          <p:cNvSpPr/>
          <p:nvPr/>
        </p:nvSpPr>
        <p:spPr>
          <a:xfrm>
            <a:off x="4480560" y="17830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2" name="Text 10"/>
          <p:cNvSpPr/>
          <p:nvPr/>
        </p:nvSpPr>
        <p:spPr>
          <a:xfrm>
            <a:off x="5074920" y="1764792"/>
            <a:ext cx="2514600" cy="36576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Extraction</a:t>
            </a:r>
            <a:endParaRPr lang="en-US" sz="1500" dirty="0"/>
          </a:p>
        </p:txBody>
      </p:sp>
      <p:sp>
        <p:nvSpPr>
          <p:cNvPr id="13" name="Text 11"/>
          <p:cNvSpPr/>
          <p:nvPr/>
        </p:nvSpPr>
        <p:spPr>
          <a:xfrm>
            <a:off x="5074920" y="2148840"/>
            <a:ext cx="2514600" cy="365760"/>
          </a:xfrm>
          <a:prstGeom prst="rect">
            <a:avLst/>
          </a:prstGeom>
          <a:noFill/>
          <a:ln/>
        </p:spPr>
        <p:txBody>
          <a:bodyPr wrap="square" rtlCol="0" anchor="ctr"/>
          <a:lstStyle/>
          <a:p>
            <a:pPr indent="0" marL="0">
              <a:buNone/>
            </a:pPr>
            <a:r>
              <a:rPr lang="en-US" sz="1200" dirty="0">
                <a:solidFill>
                  <a:srgbClr val="6E6E80"/>
                </a:solidFill>
                <a:latin typeface="Calibri" pitchFamily="34" charset="0"/>
                <a:ea typeface="Calibri" pitchFamily="34" charset="-122"/>
                <a:cs typeface="Calibri" pitchFamily="34" charset="-120"/>
              </a:rPr>
              <a:t>Parse / OCR</a:t>
            </a:r>
            <a:endParaRPr lang="en-US" sz="1200" dirty="0"/>
          </a:p>
        </p:txBody>
      </p:sp>
      <p:sp>
        <p:nvSpPr>
          <p:cNvPr id="14" name="Shape 12"/>
          <p:cNvSpPr/>
          <p:nvPr/>
        </p:nvSpPr>
        <p:spPr>
          <a:xfrm>
            <a:off x="8046720" y="1600200"/>
            <a:ext cx="3429000" cy="1371600"/>
          </a:xfrm>
          <a:prstGeom prst="roundRect">
            <a:avLst>
              <a:gd name="adj" fmla="val 5333"/>
            </a:avLst>
          </a:prstGeom>
          <a:solidFill>
            <a:srgbClr val="F4F6FC"/>
          </a:solidFill>
          <a:ln w="12700">
            <a:solidFill>
              <a:srgbClr val="993C1D"/>
            </a:solidFill>
            <a:prstDash val="solid"/>
          </a:ln>
        </p:spPr>
      </p:sp>
      <p:sp>
        <p:nvSpPr>
          <p:cNvPr id="15" name="Shape 13"/>
          <p:cNvSpPr/>
          <p:nvPr/>
        </p:nvSpPr>
        <p:spPr>
          <a:xfrm>
            <a:off x="8229600" y="1783080"/>
            <a:ext cx="457200" cy="457200"/>
          </a:xfrm>
          <a:prstGeom prst="ellipse">
            <a:avLst/>
          </a:prstGeom>
          <a:solidFill>
            <a:srgbClr val="993C1D"/>
          </a:solidFill>
          <a:ln/>
        </p:spPr>
      </p:sp>
      <p:sp>
        <p:nvSpPr>
          <p:cNvPr id="16" name="Text 14"/>
          <p:cNvSpPr/>
          <p:nvPr/>
        </p:nvSpPr>
        <p:spPr>
          <a:xfrm>
            <a:off x="8229600" y="17830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8823960" y="1764792"/>
            <a:ext cx="2514600" cy="36576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Matching</a:t>
            </a:r>
            <a:endParaRPr lang="en-US" sz="1500" dirty="0"/>
          </a:p>
        </p:txBody>
      </p:sp>
      <p:sp>
        <p:nvSpPr>
          <p:cNvPr id="18" name="Text 16"/>
          <p:cNvSpPr/>
          <p:nvPr/>
        </p:nvSpPr>
        <p:spPr>
          <a:xfrm>
            <a:off x="8823960" y="2148840"/>
            <a:ext cx="2514600" cy="365760"/>
          </a:xfrm>
          <a:prstGeom prst="rect">
            <a:avLst/>
          </a:prstGeom>
          <a:noFill/>
          <a:ln/>
        </p:spPr>
        <p:txBody>
          <a:bodyPr wrap="square" rtlCol="0" anchor="ctr"/>
          <a:lstStyle/>
          <a:p>
            <a:pPr indent="0" marL="0">
              <a:buNone/>
            </a:pPr>
            <a:r>
              <a:rPr lang="en-US" sz="1200" dirty="0">
                <a:solidFill>
                  <a:srgbClr val="6E6E80"/>
                </a:solidFill>
                <a:latin typeface="Calibri" pitchFamily="34" charset="0"/>
                <a:ea typeface="Calibri" pitchFamily="34" charset="-122"/>
                <a:cs typeface="Calibri" pitchFamily="34" charset="-120"/>
              </a:rPr>
              <a:t>CPE + version</a:t>
            </a:r>
            <a:endParaRPr lang="en-US" sz="1200" dirty="0"/>
          </a:p>
        </p:txBody>
      </p:sp>
      <p:sp>
        <p:nvSpPr>
          <p:cNvPr id="19" name="Shape 17"/>
          <p:cNvSpPr/>
          <p:nvPr/>
        </p:nvSpPr>
        <p:spPr>
          <a:xfrm>
            <a:off x="548640" y="3291840"/>
            <a:ext cx="3429000" cy="1371600"/>
          </a:xfrm>
          <a:prstGeom prst="roundRect">
            <a:avLst>
              <a:gd name="adj" fmla="val 5333"/>
            </a:avLst>
          </a:prstGeom>
          <a:solidFill>
            <a:srgbClr val="F4F6FC"/>
          </a:solidFill>
          <a:ln w="12700">
            <a:solidFill>
              <a:srgbClr val="534AB7"/>
            </a:solidFill>
            <a:prstDash val="solid"/>
          </a:ln>
        </p:spPr>
      </p:sp>
      <p:sp>
        <p:nvSpPr>
          <p:cNvPr id="20" name="Shape 18"/>
          <p:cNvSpPr/>
          <p:nvPr/>
        </p:nvSpPr>
        <p:spPr>
          <a:xfrm>
            <a:off x="731520" y="3474720"/>
            <a:ext cx="457200" cy="457200"/>
          </a:xfrm>
          <a:prstGeom prst="ellipse">
            <a:avLst/>
          </a:prstGeom>
          <a:solidFill>
            <a:srgbClr val="534AB7"/>
          </a:solidFill>
          <a:ln/>
        </p:spPr>
      </p:sp>
      <p:sp>
        <p:nvSpPr>
          <p:cNvPr id="21" name="Text 19"/>
          <p:cNvSpPr/>
          <p:nvPr/>
        </p:nvSpPr>
        <p:spPr>
          <a:xfrm>
            <a:off x="731520" y="34747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22" name="Text 20"/>
          <p:cNvSpPr/>
          <p:nvPr/>
        </p:nvSpPr>
        <p:spPr>
          <a:xfrm>
            <a:off x="1325880" y="3456432"/>
            <a:ext cx="2514600" cy="36576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NVD Retrieval</a:t>
            </a:r>
            <a:endParaRPr lang="en-US" sz="1500" dirty="0"/>
          </a:p>
        </p:txBody>
      </p:sp>
      <p:sp>
        <p:nvSpPr>
          <p:cNvPr id="23" name="Text 21"/>
          <p:cNvSpPr/>
          <p:nvPr/>
        </p:nvSpPr>
        <p:spPr>
          <a:xfrm>
            <a:off x="1325880" y="3840480"/>
            <a:ext cx="2514600" cy="365760"/>
          </a:xfrm>
          <a:prstGeom prst="rect">
            <a:avLst/>
          </a:prstGeom>
          <a:noFill/>
          <a:ln/>
        </p:spPr>
        <p:txBody>
          <a:bodyPr wrap="square" rtlCol="0" anchor="ctr"/>
          <a:lstStyle/>
          <a:p>
            <a:pPr indent="0" marL="0">
              <a:buNone/>
            </a:pPr>
            <a:r>
              <a:rPr lang="en-US" sz="1200" dirty="0">
                <a:solidFill>
                  <a:srgbClr val="6E6E80"/>
                </a:solidFill>
                <a:latin typeface="Calibri" pitchFamily="34" charset="0"/>
                <a:ea typeface="Calibri" pitchFamily="34" charset="-122"/>
                <a:cs typeface="Calibri" pitchFamily="34" charset="-120"/>
              </a:rPr>
              <a:t>CVE + CVSS + CWE</a:t>
            </a:r>
            <a:endParaRPr lang="en-US" sz="1200" dirty="0"/>
          </a:p>
        </p:txBody>
      </p:sp>
      <p:sp>
        <p:nvSpPr>
          <p:cNvPr id="24" name="Shape 22"/>
          <p:cNvSpPr/>
          <p:nvPr/>
        </p:nvSpPr>
        <p:spPr>
          <a:xfrm>
            <a:off x="4297680" y="3291840"/>
            <a:ext cx="3429000" cy="1371600"/>
          </a:xfrm>
          <a:prstGeom prst="roundRect">
            <a:avLst>
              <a:gd name="adj" fmla="val 5333"/>
            </a:avLst>
          </a:prstGeom>
          <a:solidFill>
            <a:srgbClr val="F4F6FC"/>
          </a:solidFill>
          <a:ln w="12700">
            <a:solidFill>
              <a:srgbClr val="993556"/>
            </a:solidFill>
            <a:prstDash val="solid"/>
          </a:ln>
        </p:spPr>
      </p:sp>
      <p:sp>
        <p:nvSpPr>
          <p:cNvPr id="25" name="Shape 23"/>
          <p:cNvSpPr/>
          <p:nvPr/>
        </p:nvSpPr>
        <p:spPr>
          <a:xfrm>
            <a:off x="4480560" y="3474720"/>
            <a:ext cx="457200" cy="457200"/>
          </a:xfrm>
          <a:prstGeom prst="ellipse">
            <a:avLst/>
          </a:prstGeom>
          <a:solidFill>
            <a:srgbClr val="993556"/>
          </a:solidFill>
          <a:ln/>
        </p:spPr>
      </p:sp>
      <p:sp>
        <p:nvSpPr>
          <p:cNvPr id="26" name="Text 24"/>
          <p:cNvSpPr/>
          <p:nvPr/>
        </p:nvSpPr>
        <p:spPr>
          <a:xfrm>
            <a:off x="4480560" y="34747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E</a:t>
            </a:r>
            <a:endParaRPr lang="en-US" sz="1600" dirty="0"/>
          </a:p>
        </p:txBody>
      </p:sp>
      <p:sp>
        <p:nvSpPr>
          <p:cNvPr id="27" name="Text 25"/>
          <p:cNvSpPr/>
          <p:nvPr/>
        </p:nvSpPr>
        <p:spPr>
          <a:xfrm>
            <a:off x="5074920" y="3456432"/>
            <a:ext cx="2514600" cy="36576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Threat Intel</a:t>
            </a:r>
            <a:endParaRPr lang="en-US" sz="1500" dirty="0"/>
          </a:p>
        </p:txBody>
      </p:sp>
      <p:sp>
        <p:nvSpPr>
          <p:cNvPr id="28" name="Text 26"/>
          <p:cNvSpPr/>
          <p:nvPr/>
        </p:nvSpPr>
        <p:spPr>
          <a:xfrm>
            <a:off x="5074920" y="3840480"/>
            <a:ext cx="2514600" cy="365760"/>
          </a:xfrm>
          <a:prstGeom prst="rect">
            <a:avLst/>
          </a:prstGeom>
          <a:noFill/>
          <a:ln/>
        </p:spPr>
        <p:txBody>
          <a:bodyPr wrap="square" rtlCol="0" anchor="ctr"/>
          <a:lstStyle/>
          <a:p>
            <a:pPr indent="0" marL="0">
              <a:buNone/>
            </a:pPr>
            <a:r>
              <a:rPr lang="en-US" sz="1200" dirty="0">
                <a:solidFill>
                  <a:srgbClr val="6E6E80"/>
                </a:solidFill>
                <a:latin typeface="Calibri" pitchFamily="34" charset="0"/>
                <a:ea typeface="Calibri" pitchFamily="34" charset="-122"/>
                <a:cs typeface="Calibri" pitchFamily="34" charset="-120"/>
              </a:rPr>
              <a:t>KEV + EPSS + ATT&amp;CK</a:t>
            </a:r>
            <a:endParaRPr lang="en-US" sz="1200" dirty="0"/>
          </a:p>
        </p:txBody>
      </p:sp>
      <p:sp>
        <p:nvSpPr>
          <p:cNvPr id="29" name="Shape 27"/>
          <p:cNvSpPr/>
          <p:nvPr/>
        </p:nvSpPr>
        <p:spPr>
          <a:xfrm>
            <a:off x="8046720" y="3291840"/>
            <a:ext cx="3429000" cy="1371600"/>
          </a:xfrm>
          <a:prstGeom prst="roundRect">
            <a:avLst>
              <a:gd name="adj" fmla="val 5333"/>
            </a:avLst>
          </a:prstGeom>
          <a:solidFill>
            <a:srgbClr val="F4F6FC"/>
          </a:solidFill>
          <a:ln w="12700">
            <a:solidFill>
              <a:srgbClr val="5F5E5A"/>
            </a:solidFill>
            <a:prstDash val="solid"/>
          </a:ln>
        </p:spPr>
      </p:sp>
      <p:sp>
        <p:nvSpPr>
          <p:cNvPr id="30" name="Shape 28"/>
          <p:cNvSpPr/>
          <p:nvPr/>
        </p:nvSpPr>
        <p:spPr>
          <a:xfrm>
            <a:off x="8229600" y="3474720"/>
            <a:ext cx="457200" cy="457200"/>
          </a:xfrm>
          <a:prstGeom prst="ellipse">
            <a:avLst/>
          </a:prstGeom>
          <a:solidFill>
            <a:srgbClr val="5F5E5A"/>
          </a:solidFill>
          <a:ln/>
        </p:spPr>
      </p:sp>
      <p:sp>
        <p:nvSpPr>
          <p:cNvPr id="31" name="Text 29"/>
          <p:cNvSpPr/>
          <p:nvPr/>
        </p:nvSpPr>
        <p:spPr>
          <a:xfrm>
            <a:off x="8229600" y="34747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a:t>
            </a:r>
            <a:endParaRPr lang="en-US" sz="1600" dirty="0"/>
          </a:p>
        </p:txBody>
      </p:sp>
      <p:sp>
        <p:nvSpPr>
          <p:cNvPr id="32" name="Text 30"/>
          <p:cNvSpPr/>
          <p:nvPr/>
        </p:nvSpPr>
        <p:spPr>
          <a:xfrm>
            <a:off x="8823960" y="3456432"/>
            <a:ext cx="2514600" cy="36576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LLM Reasoning</a:t>
            </a:r>
            <a:endParaRPr lang="en-US" sz="1500" dirty="0"/>
          </a:p>
        </p:txBody>
      </p:sp>
      <p:sp>
        <p:nvSpPr>
          <p:cNvPr id="33" name="Text 31"/>
          <p:cNvSpPr/>
          <p:nvPr/>
        </p:nvSpPr>
        <p:spPr>
          <a:xfrm>
            <a:off x="8823960" y="3840480"/>
            <a:ext cx="2514600" cy="365760"/>
          </a:xfrm>
          <a:prstGeom prst="rect">
            <a:avLst/>
          </a:prstGeom>
          <a:noFill/>
          <a:ln/>
        </p:spPr>
        <p:txBody>
          <a:bodyPr wrap="square" rtlCol="0" anchor="ctr"/>
          <a:lstStyle/>
          <a:p>
            <a:pPr indent="0" marL="0">
              <a:buNone/>
            </a:pPr>
            <a:r>
              <a:rPr lang="en-US" sz="1200" dirty="0">
                <a:solidFill>
                  <a:srgbClr val="6E6E80"/>
                </a:solidFill>
                <a:latin typeface="Calibri" pitchFamily="34" charset="0"/>
                <a:ea typeface="Calibri" pitchFamily="34" charset="-122"/>
                <a:cs typeface="Calibri" pitchFamily="34" charset="-120"/>
              </a:rPr>
              <a:t>Risk + recommendation</a:t>
            </a:r>
            <a:endParaRPr lang="en-US" sz="1200" dirty="0"/>
          </a:p>
        </p:txBody>
      </p:sp>
      <p:sp>
        <p:nvSpPr>
          <p:cNvPr id="34" name="Shape 32"/>
          <p:cNvSpPr/>
          <p:nvPr/>
        </p:nvSpPr>
        <p:spPr>
          <a:xfrm>
            <a:off x="548640" y="4983480"/>
            <a:ext cx="3429000" cy="1371600"/>
          </a:xfrm>
          <a:prstGeom prst="roundRect">
            <a:avLst>
              <a:gd name="adj" fmla="val 5333"/>
            </a:avLst>
          </a:prstGeom>
          <a:solidFill>
            <a:srgbClr val="F4F6FC"/>
          </a:solidFill>
          <a:ln w="12700">
            <a:solidFill>
              <a:srgbClr val="854F0B"/>
            </a:solidFill>
            <a:prstDash val="solid"/>
          </a:ln>
        </p:spPr>
      </p:sp>
      <p:sp>
        <p:nvSpPr>
          <p:cNvPr id="35" name="Shape 33"/>
          <p:cNvSpPr/>
          <p:nvPr/>
        </p:nvSpPr>
        <p:spPr>
          <a:xfrm>
            <a:off x="731520" y="5166360"/>
            <a:ext cx="457200" cy="457200"/>
          </a:xfrm>
          <a:prstGeom prst="ellipse">
            <a:avLst/>
          </a:prstGeom>
          <a:solidFill>
            <a:srgbClr val="854F0B"/>
          </a:solidFill>
          <a:ln/>
        </p:spPr>
      </p:sp>
      <p:sp>
        <p:nvSpPr>
          <p:cNvPr id="36" name="Text 34"/>
          <p:cNvSpPr/>
          <p:nvPr/>
        </p:nvSpPr>
        <p:spPr>
          <a:xfrm>
            <a:off x="731520" y="51663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G</a:t>
            </a:r>
            <a:endParaRPr lang="en-US" sz="1600" dirty="0"/>
          </a:p>
        </p:txBody>
      </p:sp>
      <p:sp>
        <p:nvSpPr>
          <p:cNvPr id="37" name="Text 35"/>
          <p:cNvSpPr/>
          <p:nvPr/>
        </p:nvSpPr>
        <p:spPr>
          <a:xfrm>
            <a:off x="1325880" y="5148072"/>
            <a:ext cx="2514600" cy="36576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Responsible AI</a:t>
            </a:r>
            <a:endParaRPr lang="en-US" sz="1500" dirty="0"/>
          </a:p>
        </p:txBody>
      </p:sp>
      <p:sp>
        <p:nvSpPr>
          <p:cNvPr id="38" name="Text 36"/>
          <p:cNvSpPr/>
          <p:nvPr/>
        </p:nvSpPr>
        <p:spPr>
          <a:xfrm>
            <a:off x="1325880" y="5532120"/>
            <a:ext cx="2514600" cy="365760"/>
          </a:xfrm>
          <a:prstGeom prst="rect">
            <a:avLst/>
          </a:prstGeom>
          <a:noFill/>
          <a:ln/>
        </p:spPr>
        <p:txBody>
          <a:bodyPr wrap="square" rtlCol="0" anchor="ctr"/>
          <a:lstStyle/>
          <a:p>
            <a:pPr indent="0" marL="0">
              <a:buNone/>
            </a:pPr>
            <a:r>
              <a:rPr lang="en-US" sz="1200" dirty="0">
                <a:solidFill>
                  <a:srgbClr val="6E6E80"/>
                </a:solidFill>
                <a:latin typeface="Calibri" pitchFamily="34" charset="0"/>
                <a:ea typeface="Calibri" pitchFamily="34" charset="-122"/>
                <a:cs typeface="Calibri" pitchFamily="34" charset="-120"/>
              </a:rPr>
              <a:t>Bias + confidence</a:t>
            </a:r>
            <a:endParaRPr lang="en-US" sz="1200" dirty="0"/>
          </a:p>
        </p:txBody>
      </p:sp>
      <p:sp>
        <p:nvSpPr>
          <p:cNvPr id="39" name="Shape 37"/>
          <p:cNvSpPr/>
          <p:nvPr/>
        </p:nvSpPr>
        <p:spPr>
          <a:xfrm>
            <a:off x="4297680" y="4983480"/>
            <a:ext cx="3429000" cy="1371600"/>
          </a:xfrm>
          <a:prstGeom prst="roundRect">
            <a:avLst>
              <a:gd name="adj" fmla="val 5333"/>
            </a:avLst>
          </a:prstGeom>
          <a:solidFill>
            <a:srgbClr val="F4F6FC"/>
          </a:solidFill>
          <a:ln w="12700">
            <a:solidFill>
              <a:srgbClr val="0C447C"/>
            </a:solidFill>
            <a:prstDash val="solid"/>
          </a:ln>
        </p:spPr>
      </p:sp>
      <p:sp>
        <p:nvSpPr>
          <p:cNvPr id="40" name="Shape 38"/>
          <p:cNvSpPr/>
          <p:nvPr/>
        </p:nvSpPr>
        <p:spPr>
          <a:xfrm>
            <a:off x="4480560" y="5166360"/>
            <a:ext cx="457200" cy="457200"/>
          </a:xfrm>
          <a:prstGeom prst="ellipse">
            <a:avLst/>
          </a:prstGeom>
          <a:solidFill>
            <a:srgbClr val="0C447C"/>
          </a:solidFill>
          <a:ln/>
        </p:spPr>
      </p:sp>
      <p:sp>
        <p:nvSpPr>
          <p:cNvPr id="41" name="Text 39"/>
          <p:cNvSpPr/>
          <p:nvPr/>
        </p:nvSpPr>
        <p:spPr>
          <a:xfrm>
            <a:off x="4480560" y="51663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a:t>
            </a:r>
            <a:endParaRPr lang="en-US" sz="1600" dirty="0"/>
          </a:p>
        </p:txBody>
      </p:sp>
      <p:sp>
        <p:nvSpPr>
          <p:cNvPr id="42" name="Text 40"/>
          <p:cNvSpPr/>
          <p:nvPr/>
        </p:nvSpPr>
        <p:spPr>
          <a:xfrm>
            <a:off x="5074920" y="5148072"/>
            <a:ext cx="2514600" cy="36576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Audit Log</a:t>
            </a:r>
            <a:endParaRPr lang="en-US" sz="1500" dirty="0"/>
          </a:p>
        </p:txBody>
      </p:sp>
      <p:sp>
        <p:nvSpPr>
          <p:cNvPr id="43" name="Text 41"/>
          <p:cNvSpPr/>
          <p:nvPr/>
        </p:nvSpPr>
        <p:spPr>
          <a:xfrm>
            <a:off x="5074920" y="5532120"/>
            <a:ext cx="2514600" cy="365760"/>
          </a:xfrm>
          <a:prstGeom prst="rect">
            <a:avLst/>
          </a:prstGeom>
          <a:noFill/>
          <a:ln/>
        </p:spPr>
        <p:txBody>
          <a:bodyPr wrap="square" rtlCol="0" anchor="ctr"/>
          <a:lstStyle/>
          <a:p>
            <a:pPr indent="0" marL="0">
              <a:buNone/>
            </a:pPr>
            <a:r>
              <a:rPr lang="en-US" sz="1200" dirty="0">
                <a:solidFill>
                  <a:srgbClr val="6E6E80"/>
                </a:solidFill>
                <a:latin typeface="Calibri" pitchFamily="34" charset="0"/>
                <a:ea typeface="Calibri" pitchFamily="34" charset="-122"/>
                <a:cs typeface="Calibri" pitchFamily="34" charset="-120"/>
              </a:rPr>
              <a:t>Compliance trail</a:t>
            </a:r>
            <a:endParaRPr lang="en-US" sz="1200" dirty="0"/>
          </a:p>
        </p:txBody>
      </p:sp>
      <p:sp>
        <p:nvSpPr>
          <p:cNvPr id="44" name="Shape 42"/>
          <p:cNvSpPr/>
          <p:nvPr/>
        </p:nvSpPr>
        <p:spPr>
          <a:xfrm>
            <a:off x="8046720" y="4983480"/>
            <a:ext cx="3429000" cy="1371600"/>
          </a:xfrm>
          <a:prstGeom prst="roundRect">
            <a:avLst>
              <a:gd name="adj" fmla="val 5333"/>
            </a:avLst>
          </a:prstGeom>
          <a:solidFill>
            <a:srgbClr val="F4F6FC"/>
          </a:solidFill>
          <a:ln w="12700">
            <a:solidFill>
              <a:srgbClr val="27500A"/>
            </a:solidFill>
            <a:prstDash val="solid"/>
          </a:ln>
        </p:spPr>
      </p:sp>
      <p:sp>
        <p:nvSpPr>
          <p:cNvPr id="45" name="Shape 43"/>
          <p:cNvSpPr/>
          <p:nvPr/>
        </p:nvSpPr>
        <p:spPr>
          <a:xfrm>
            <a:off x="8229600" y="5166360"/>
            <a:ext cx="457200" cy="457200"/>
          </a:xfrm>
          <a:prstGeom prst="ellipse">
            <a:avLst/>
          </a:prstGeom>
          <a:solidFill>
            <a:srgbClr val="27500A"/>
          </a:solidFill>
          <a:ln/>
        </p:spPr>
      </p:sp>
      <p:sp>
        <p:nvSpPr>
          <p:cNvPr id="46" name="Text 44"/>
          <p:cNvSpPr/>
          <p:nvPr/>
        </p:nvSpPr>
        <p:spPr>
          <a:xfrm>
            <a:off x="8229600" y="51663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a:t>
            </a:r>
            <a:endParaRPr lang="en-US" sz="1600" dirty="0"/>
          </a:p>
        </p:txBody>
      </p:sp>
      <p:sp>
        <p:nvSpPr>
          <p:cNvPr id="47" name="Text 45"/>
          <p:cNvSpPr/>
          <p:nvPr/>
        </p:nvSpPr>
        <p:spPr>
          <a:xfrm>
            <a:off x="8823960" y="5148072"/>
            <a:ext cx="2514600" cy="36576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Dashboard</a:t>
            </a:r>
            <a:endParaRPr lang="en-US" sz="1500" dirty="0"/>
          </a:p>
        </p:txBody>
      </p:sp>
      <p:sp>
        <p:nvSpPr>
          <p:cNvPr id="48" name="Text 46"/>
          <p:cNvSpPr/>
          <p:nvPr/>
        </p:nvSpPr>
        <p:spPr>
          <a:xfrm>
            <a:off x="8823960" y="5532120"/>
            <a:ext cx="2514600" cy="365760"/>
          </a:xfrm>
          <a:prstGeom prst="rect">
            <a:avLst/>
          </a:prstGeom>
          <a:noFill/>
          <a:ln/>
        </p:spPr>
        <p:txBody>
          <a:bodyPr wrap="square" rtlCol="0" anchor="ctr"/>
          <a:lstStyle/>
          <a:p>
            <a:pPr indent="0" marL="0">
              <a:buNone/>
            </a:pPr>
            <a:r>
              <a:rPr lang="en-US" sz="1200" dirty="0">
                <a:solidFill>
                  <a:srgbClr val="6E6E80"/>
                </a:solidFill>
                <a:latin typeface="Calibri" pitchFamily="34" charset="0"/>
                <a:ea typeface="Calibri" pitchFamily="34" charset="-122"/>
                <a:cs typeface="Calibri" pitchFamily="34" charset="-120"/>
              </a:rPr>
              <a:t>Final report</a:t>
            </a:r>
            <a:endParaRPr lang="en-US" sz="1200" dirty="0"/>
          </a:p>
        </p:txBody>
      </p:sp>
      <p:sp>
        <p:nvSpPr>
          <p:cNvPr id="49" name="Text 47"/>
          <p:cNvSpPr/>
          <p:nvPr/>
        </p:nvSpPr>
        <p:spPr>
          <a:xfrm>
            <a:off x="548640" y="6537960"/>
            <a:ext cx="7315200" cy="274320"/>
          </a:xfrm>
          <a:prstGeom prst="rect">
            <a:avLst/>
          </a:prstGeom>
          <a:noFill/>
          <a:ln/>
        </p:spPr>
        <p:txBody>
          <a:bodyPr wrap="square" rtlCol="0" anchor="ctr"/>
          <a:lstStyle/>
          <a:p>
            <a:pPr indent="0" marL="0">
              <a:buNone/>
            </a:pPr>
            <a:r>
              <a:rPr lang="en-US" sz="900" dirty="0">
                <a:solidFill>
                  <a:srgbClr val="6E6E80"/>
                </a:solidFill>
                <a:latin typeface="Calibri" pitchFamily="34" charset="0"/>
                <a:ea typeface="Calibri" pitchFamily="34" charset="-122"/>
                <a:cs typeface="Calibri" pitchFamily="34" charset="-120"/>
              </a:rPr>
              <a:t>Extended IT Security Agent Architecture</a:t>
            </a:r>
            <a:endParaRPr lang="en-US" sz="900" dirty="0"/>
          </a:p>
        </p:txBody>
      </p:sp>
      <p:sp>
        <p:nvSpPr>
          <p:cNvPr id="50" name="Text 48"/>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E6E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502920"/>
            <a:ext cx="91440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Worked Example</a:t>
            </a:r>
            <a:endParaRPr lang="en-US" sz="3000" dirty="0"/>
          </a:p>
        </p:txBody>
      </p:sp>
      <p:sp>
        <p:nvSpPr>
          <p:cNvPr id="3" name="Shape 1"/>
          <p:cNvSpPr/>
          <p:nvPr/>
        </p:nvSpPr>
        <p:spPr>
          <a:xfrm>
            <a:off x="548640" y="1554480"/>
            <a:ext cx="11091672" cy="4206240"/>
          </a:xfrm>
          <a:prstGeom prst="roundRect">
            <a:avLst>
              <a:gd name="adj" fmla="val 2174"/>
            </a:avLst>
          </a:prstGeom>
          <a:solidFill>
            <a:srgbClr val="263A8C"/>
          </a:solidFill>
          <a:ln/>
        </p:spPr>
      </p:sp>
      <p:sp>
        <p:nvSpPr>
          <p:cNvPr id="4" name="Text 2"/>
          <p:cNvSpPr/>
          <p:nvPr/>
        </p:nvSpPr>
        <p:spPr>
          <a:xfrm>
            <a:off x="914400" y="1828800"/>
            <a:ext cx="4572000" cy="365760"/>
          </a:xfrm>
          <a:prstGeom prst="rect">
            <a:avLst/>
          </a:prstGeom>
          <a:noFill/>
          <a:ln/>
        </p:spPr>
        <p:txBody>
          <a:bodyPr wrap="square"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Scenario</a:t>
            </a:r>
            <a:endParaRPr lang="en-US" sz="1400" dirty="0"/>
          </a:p>
        </p:txBody>
      </p:sp>
      <p:sp>
        <p:nvSpPr>
          <p:cNvPr id="5" name="Text 3"/>
          <p:cNvSpPr/>
          <p:nvPr/>
        </p:nvSpPr>
        <p:spPr>
          <a:xfrm>
            <a:off x="914400" y="2240280"/>
            <a:ext cx="5943600" cy="45720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An SBOM is submitted for scanning. One of its listed components:</a:t>
            </a:r>
            <a:endParaRPr lang="en-US" sz="1500" dirty="0"/>
          </a:p>
        </p:txBody>
      </p:sp>
      <p:sp>
        <p:nvSpPr>
          <p:cNvPr id="6" name="Shape 4"/>
          <p:cNvSpPr/>
          <p:nvPr/>
        </p:nvSpPr>
        <p:spPr>
          <a:xfrm>
            <a:off x="914400" y="2788920"/>
            <a:ext cx="5303520" cy="1005840"/>
          </a:xfrm>
          <a:prstGeom prst="roundRect">
            <a:avLst>
              <a:gd name="adj" fmla="val 7273"/>
            </a:avLst>
          </a:prstGeom>
          <a:solidFill>
            <a:srgbClr val="FFFFFF"/>
          </a:solidFill>
          <a:ln/>
        </p:spPr>
      </p:sp>
      <p:sp>
        <p:nvSpPr>
          <p:cNvPr id="7" name="Text 5"/>
          <p:cNvSpPr/>
          <p:nvPr/>
        </p:nvSpPr>
        <p:spPr>
          <a:xfrm>
            <a:off x="1143000" y="2926080"/>
            <a:ext cx="4846320" cy="777240"/>
          </a:xfrm>
          <a:prstGeom prst="rect">
            <a:avLst/>
          </a:prstGeom>
          <a:noFill/>
          <a:ln/>
        </p:spPr>
        <p:txBody>
          <a:bodyPr wrap="square" rtlCol="0" anchor="t"/>
          <a:lstStyle/>
          <a:p>
            <a:pPr indent="0" marL="0">
              <a:buNone/>
            </a:pPr>
            <a:r>
              <a:rPr lang="en-US" sz="1300" dirty="0">
                <a:solidFill>
                  <a:srgbClr val="6E6E80"/>
                </a:solidFill>
                <a:latin typeface="Courier New" pitchFamily="34" charset="0"/>
                <a:ea typeface="Courier New" pitchFamily="34" charset="-122"/>
                <a:cs typeface="Courier New" pitchFamily="34" charset="-120"/>
              </a:rPr>
              <a:t>name: </a:t>
            </a:r>
            <a:pPr indent="0" marL="0">
              <a:buNone/>
            </a:pPr>
            <a:r>
              <a:rPr lang="en-US" sz="1300" dirty="0">
                <a:solidFill>
                  <a:srgbClr val="2B2B3A"/>
                </a:solidFill>
                <a:latin typeface="Courier New" pitchFamily="34" charset="0"/>
                <a:ea typeface="Courier New" pitchFamily="34" charset="-122"/>
                <a:cs typeface="Courier New" pitchFamily="34" charset="-120"/>
              </a:rPr>
              <a:t>"log4j-core"</a:t>
            </a:r>
            <a:endParaRPr lang="en-US" sz="1300" dirty="0"/>
          </a:p>
          <a:p>
            <a:pPr indent="0" marL="0">
              <a:buNone/>
            </a:pPr>
            <a:r>
              <a:rPr lang="en-US" sz="1300" dirty="0">
                <a:solidFill>
                  <a:srgbClr val="6E6E80"/>
                </a:solidFill>
                <a:latin typeface="Courier New" pitchFamily="34" charset="0"/>
                <a:ea typeface="Courier New" pitchFamily="34" charset="-122"/>
                <a:cs typeface="Courier New" pitchFamily="34" charset="-120"/>
              </a:rPr>
              <a:t>version: </a:t>
            </a:r>
            <a:pPr indent="0" marL="0">
              <a:buNone/>
            </a:pPr>
            <a:r>
              <a:rPr lang="en-US" sz="1300" dirty="0">
                <a:solidFill>
                  <a:srgbClr val="2B2B3A"/>
                </a:solidFill>
                <a:latin typeface="Courier New" pitchFamily="34" charset="0"/>
                <a:ea typeface="Courier New" pitchFamily="34" charset="-122"/>
                <a:cs typeface="Courier New" pitchFamily="34" charset="-120"/>
              </a:rPr>
              <a:t>"2.14.1"</a:t>
            </a:r>
            <a:endParaRPr lang="en-US" sz="1300" dirty="0"/>
          </a:p>
          <a:p>
            <a:pPr indent="0" marL="0">
              <a:buNone/>
            </a:pPr>
            <a:r>
              <a:rPr lang="en-US" sz="1300" dirty="0">
                <a:solidFill>
                  <a:srgbClr val="6E6E80"/>
                </a:solidFill>
                <a:latin typeface="Courier New" pitchFamily="34" charset="0"/>
                <a:ea typeface="Courier New" pitchFamily="34" charset="-122"/>
                <a:cs typeface="Courier New" pitchFamily="34" charset="-120"/>
              </a:rPr>
              <a:t>vendor: </a:t>
            </a:r>
            <a:pPr indent="0" marL="0">
              <a:buNone/>
            </a:pPr>
            <a:r>
              <a:rPr lang="en-US" sz="1300" dirty="0">
                <a:solidFill>
                  <a:srgbClr val="2B2B3A"/>
                </a:solidFill>
                <a:latin typeface="Courier New" pitchFamily="34" charset="0"/>
                <a:ea typeface="Courier New" pitchFamily="34" charset="-122"/>
                <a:cs typeface="Courier New" pitchFamily="34" charset="-120"/>
              </a:rPr>
              <a:t>"apache"</a:t>
            </a:r>
            <a:endParaRPr lang="en-US" sz="1300" dirty="0"/>
          </a:p>
        </p:txBody>
      </p:sp>
      <p:sp>
        <p:nvSpPr>
          <p:cNvPr id="8" name="Text 6"/>
          <p:cNvSpPr/>
          <p:nvPr/>
        </p:nvSpPr>
        <p:spPr>
          <a:xfrm>
            <a:off x="6492240" y="2240280"/>
            <a:ext cx="4754880" cy="2651760"/>
          </a:xfrm>
          <a:prstGeom prst="rect">
            <a:avLst/>
          </a:prstGeom>
          <a:noFill/>
          <a:ln/>
        </p:spPr>
        <p:txBody>
          <a:bodyPr wrap="square" rtlCol="0" anchor="t"/>
          <a:lstStyle/>
          <a:p>
            <a:pPr indent="0" marL="0">
              <a:buNone/>
            </a:pPr>
            <a:r>
              <a:rPr lang="en-US" sz="1500" i="1" dirty="0">
                <a:solidFill>
                  <a:srgbClr val="CADCFC"/>
                </a:solidFill>
                <a:latin typeface="Calibri" pitchFamily="34" charset="0"/>
                <a:ea typeface="Calibri" pitchFamily="34" charset="-122"/>
                <a:cs typeface="Calibri" pitchFamily="34" charset="-120"/>
              </a:rPr>
              <a:t>This is the exact vulnerable version behind Log4Shell — the industry's textbook case for why matching alone isn't enough. We'll follow it through every stage.</a:t>
            </a:r>
            <a:endParaRPr lang="en-US" sz="1500" dirty="0"/>
          </a:p>
        </p:txBody>
      </p:sp>
      <p:sp>
        <p:nvSpPr>
          <p:cNvPr id="9" name="Text 7"/>
          <p:cNvSpPr/>
          <p:nvPr/>
        </p:nvSpPr>
        <p:spPr>
          <a:xfrm>
            <a:off x="548640" y="6537960"/>
            <a:ext cx="7315200" cy="274320"/>
          </a:xfrm>
          <a:prstGeom prst="rect">
            <a:avLst/>
          </a:prstGeom>
          <a:noFill/>
          <a:ln/>
        </p:spPr>
        <p:txBody>
          <a:bodyPr wrap="square" rtlCol="0" anchor="ctr"/>
          <a:lstStyle/>
          <a:p>
            <a:pPr indent="0" marL="0">
              <a:buNone/>
            </a:pPr>
            <a:r>
              <a:rPr lang="en-US" sz="900" dirty="0">
                <a:solidFill>
                  <a:srgbClr val="6E6E80"/>
                </a:solidFill>
                <a:latin typeface="Calibri" pitchFamily="34" charset="0"/>
                <a:ea typeface="Calibri" pitchFamily="34" charset="-122"/>
                <a:cs typeface="Calibri" pitchFamily="34" charset="-120"/>
              </a:rPr>
              <a:t>Extended IT Security Agent Architecture</a:t>
            </a:r>
            <a:endParaRPr lang="en-US" sz="900" dirty="0"/>
          </a:p>
        </p:txBody>
      </p:sp>
      <p:sp>
        <p:nvSpPr>
          <p:cNvPr id="10" name="Text 8"/>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E6E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rtlCol="0" anchor="ctr"/>
          <a:lstStyle/>
          <a:p>
            <a:pPr indent="0" marL="0">
              <a:buNone/>
            </a:pPr>
            <a:r>
              <a:rPr lang="en-US" sz="1200" b="1" spc="200" kern="0" dirty="0">
                <a:solidFill>
                  <a:srgbClr val="D85A30"/>
                </a:solidFill>
                <a:latin typeface="Calibri" pitchFamily="34" charset="0"/>
                <a:ea typeface="Calibri" pitchFamily="34" charset="-122"/>
                <a:cs typeface="Calibri" pitchFamily="34" charset="-120"/>
              </a:rPr>
              <a:t>STAGES A – C</a:t>
            </a:r>
            <a:endParaRPr lang="en-US" sz="1200" dirty="0"/>
          </a:p>
        </p:txBody>
      </p:sp>
      <p:sp>
        <p:nvSpPr>
          <p:cNvPr id="3" name="Text 1"/>
          <p:cNvSpPr/>
          <p:nvPr/>
        </p:nvSpPr>
        <p:spPr>
          <a:xfrm>
            <a:off x="548640" y="594360"/>
            <a:ext cx="10972800" cy="73152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Input → Extraction → Matching</a:t>
            </a:r>
            <a:endParaRPr lang="en-US" sz="2800" dirty="0"/>
          </a:p>
        </p:txBody>
      </p:sp>
      <p:sp>
        <p:nvSpPr>
          <p:cNvPr id="4" name="Shape 2"/>
          <p:cNvSpPr/>
          <p:nvPr/>
        </p:nvSpPr>
        <p:spPr>
          <a:xfrm>
            <a:off x="548640" y="1691640"/>
            <a:ext cx="457200" cy="457200"/>
          </a:xfrm>
          <a:prstGeom prst="ellipse">
            <a:avLst/>
          </a:prstGeom>
          <a:solidFill>
            <a:srgbClr val="185FA5"/>
          </a:solidFill>
          <a:ln/>
        </p:spPr>
      </p:sp>
      <p:sp>
        <p:nvSpPr>
          <p:cNvPr id="5" name="Text 3"/>
          <p:cNvSpPr/>
          <p:nvPr/>
        </p:nvSpPr>
        <p:spPr>
          <a:xfrm>
            <a:off x="548640" y="169164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6" name="Text 4"/>
          <p:cNvSpPr/>
          <p:nvPr/>
        </p:nvSpPr>
        <p:spPr>
          <a:xfrm>
            <a:off x="1188720" y="1645920"/>
            <a:ext cx="2286000" cy="548640"/>
          </a:xfrm>
          <a:prstGeom prst="rect">
            <a:avLst/>
          </a:prstGeom>
          <a:noFill/>
          <a:ln/>
        </p:spPr>
        <p:txBody>
          <a:bodyPr wrap="square"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Input</a:t>
            </a:r>
            <a:endParaRPr lang="en-US" sz="1600" dirty="0"/>
          </a:p>
        </p:txBody>
      </p:sp>
      <p:sp>
        <p:nvSpPr>
          <p:cNvPr id="7" name="Text 5"/>
          <p:cNvSpPr/>
          <p:nvPr/>
        </p:nvSpPr>
        <p:spPr>
          <a:xfrm>
            <a:off x="3657600" y="1645920"/>
            <a:ext cx="3291840" cy="548640"/>
          </a:xfrm>
          <a:prstGeom prst="rect">
            <a:avLst/>
          </a:prstGeom>
          <a:noFill/>
          <a:ln/>
        </p:spPr>
        <p:txBody>
          <a:bodyPr wrap="square" rtlCol="0" anchor="ctr"/>
          <a:lstStyle/>
          <a:p>
            <a:pPr indent="0" marL="0">
              <a:buNone/>
            </a:pPr>
            <a:r>
              <a:rPr lang="en-US" sz="1300" dirty="0">
                <a:solidFill>
                  <a:srgbClr val="2B2B3A"/>
                </a:solidFill>
                <a:latin typeface="Calibri" pitchFamily="34" charset="0"/>
                <a:ea typeface="Calibri" pitchFamily="34" charset="-122"/>
                <a:cs typeface="Calibri" pitchFamily="34" charset="-120"/>
              </a:rPr>
              <a:t>SBOM entry received</a:t>
            </a:r>
            <a:endParaRPr lang="en-US" sz="1300" dirty="0"/>
          </a:p>
        </p:txBody>
      </p:sp>
      <p:sp>
        <p:nvSpPr>
          <p:cNvPr id="8" name="Shape 6"/>
          <p:cNvSpPr/>
          <p:nvPr/>
        </p:nvSpPr>
        <p:spPr>
          <a:xfrm>
            <a:off x="7132320" y="1554480"/>
            <a:ext cx="4480560" cy="777240"/>
          </a:xfrm>
          <a:prstGeom prst="roundRect">
            <a:avLst>
              <a:gd name="adj" fmla="val 7059"/>
            </a:avLst>
          </a:prstGeom>
          <a:solidFill>
            <a:srgbClr val="F4F6FC"/>
          </a:solidFill>
          <a:ln/>
        </p:spPr>
      </p:sp>
      <p:sp>
        <p:nvSpPr>
          <p:cNvPr id="9" name="Text 7"/>
          <p:cNvSpPr/>
          <p:nvPr/>
        </p:nvSpPr>
        <p:spPr>
          <a:xfrm>
            <a:off x="7315200" y="1554480"/>
            <a:ext cx="4114800" cy="777240"/>
          </a:xfrm>
          <a:prstGeom prst="rect">
            <a:avLst/>
          </a:prstGeom>
          <a:noFill/>
          <a:ln/>
        </p:spPr>
        <p:txBody>
          <a:bodyPr wrap="square" rtlCol="0" anchor="ctr"/>
          <a:lstStyle/>
          <a:p>
            <a:pPr indent="0" marL="0">
              <a:buNone/>
            </a:pPr>
            <a:r>
              <a:rPr lang="en-US" sz="1200" dirty="0">
                <a:solidFill>
                  <a:srgbClr val="2B2B3A"/>
                </a:solidFill>
                <a:latin typeface="Courier New" pitchFamily="34" charset="0"/>
                <a:ea typeface="Courier New" pitchFamily="34" charset="-122"/>
                <a:cs typeface="Courier New" pitchFamily="34" charset="-120"/>
              </a:rPr>
              <a:t>log4j-core, 2.14.1, apache</a:t>
            </a:r>
            <a:endParaRPr lang="en-US" sz="1200" dirty="0"/>
          </a:p>
        </p:txBody>
      </p:sp>
      <p:sp>
        <p:nvSpPr>
          <p:cNvPr id="10" name="Shape 8"/>
          <p:cNvSpPr/>
          <p:nvPr/>
        </p:nvSpPr>
        <p:spPr>
          <a:xfrm>
            <a:off x="548640" y="3108960"/>
            <a:ext cx="457200" cy="457200"/>
          </a:xfrm>
          <a:prstGeom prst="ellipse">
            <a:avLst/>
          </a:prstGeom>
          <a:solidFill>
            <a:srgbClr val="0F6E56"/>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2" name="Text 10"/>
          <p:cNvSpPr/>
          <p:nvPr/>
        </p:nvSpPr>
        <p:spPr>
          <a:xfrm>
            <a:off x="1188720" y="3063240"/>
            <a:ext cx="2286000" cy="548640"/>
          </a:xfrm>
          <a:prstGeom prst="rect">
            <a:avLst/>
          </a:prstGeom>
          <a:noFill/>
          <a:ln/>
        </p:spPr>
        <p:txBody>
          <a:bodyPr wrap="square"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Extraction</a:t>
            </a:r>
            <a:endParaRPr lang="en-US" sz="1600" dirty="0"/>
          </a:p>
        </p:txBody>
      </p:sp>
      <p:sp>
        <p:nvSpPr>
          <p:cNvPr id="13" name="Text 11"/>
          <p:cNvSpPr/>
          <p:nvPr/>
        </p:nvSpPr>
        <p:spPr>
          <a:xfrm>
            <a:off x="3657600" y="3063240"/>
            <a:ext cx="3291840" cy="548640"/>
          </a:xfrm>
          <a:prstGeom prst="rect">
            <a:avLst/>
          </a:prstGeom>
          <a:noFill/>
          <a:ln/>
        </p:spPr>
        <p:txBody>
          <a:bodyPr wrap="square" rtlCol="0" anchor="ctr"/>
          <a:lstStyle/>
          <a:p>
            <a:pPr indent="0" marL="0">
              <a:buNone/>
            </a:pPr>
            <a:r>
              <a:rPr lang="en-US" sz="1300" dirty="0">
                <a:solidFill>
                  <a:srgbClr val="2B2B3A"/>
                </a:solidFill>
                <a:latin typeface="Calibri" pitchFamily="34" charset="0"/>
                <a:ea typeface="Calibri" pitchFamily="34" charset="-122"/>
                <a:cs typeface="Calibri" pitchFamily="34" charset="-120"/>
              </a:rPr>
              <a:t>Normalize the name</a:t>
            </a:r>
            <a:endParaRPr lang="en-US" sz="1300" dirty="0"/>
          </a:p>
        </p:txBody>
      </p:sp>
      <p:sp>
        <p:nvSpPr>
          <p:cNvPr id="14" name="Shape 12"/>
          <p:cNvSpPr/>
          <p:nvPr/>
        </p:nvSpPr>
        <p:spPr>
          <a:xfrm>
            <a:off x="7132320" y="2971800"/>
            <a:ext cx="4480560" cy="777240"/>
          </a:xfrm>
          <a:prstGeom prst="roundRect">
            <a:avLst>
              <a:gd name="adj" fmla="val 7059"/>
            </a:avLst>
          </a:prstGeom>
          <a:solidFill>
            <a:srgbClr val="F4F6FC"/>
          </a:solidFill>
          <a:ln/>
        </p:spPr>
      </p:sp>
      <p:sp>
        <p:nvSpPr>
          <p:cNvPr id="15" name="Text 13"/>
          <p:cNvSpPr/>
          <p:nvPr/>
        </p:nvSpPr>
        <p:spPr>
          <a:xfrm>
            <a:off x="7315200" y="2971800"/>
            <a:ext cx="4114800" cy="777240"/>
          </a:xfrm>
          <a:prstGeom prst="rect">
            <a:avLst/>
          </a:prstGeom>
          <a:noFill/>
          <a:ln/>
        </p:spPr>
        <p:txBody>
          <a:bodyPr wrap="square" rtlCol="0" anchor="ctr"/>
          <a:lstStyle/>
          <a:p>
            <a:pPr indent="0" marL="0">
              <a:buNone/>
            </a:pPr>
            <a:r>
              <a:rPr lang="en-US" sz="1200" dirty="0">
                <a:solidFill>
                  <a:srgbClr val="2B2B3A"/>
                </a:solidFill>
                <a:latin typeface="Courier New" pitchFamily="34" charset="0"/>
                <a:ea typeface="Courier New" pitchFamily="34" charset="-122"/>
                <a:cs typeface="Courier New" pitchFamily="34" charset="-120"/>
              </a:rPr>
              <a:t>"log4j-core" → "log4j" (strip -core suffix)</a:t>
            </a:r>
            <a:endParaRPr lang="en-US" sz="1200" dirty="0"/>
          </a:p>
        </p:txBody>
      </p:sp>
      <p:sp>
        <p:nvSpPr>
          <p:cNvPr id="16" name="Shape 14"/>
          <p:cNvSpPr/>
          <p:nvPr/>
        </p:nvSpPr>
        <p:spPr>
          <a:xfrm>
            <a:off x="548640" y="4526280"/>
            <a:ext cx="457200" cy="457200"/>
          </a:xfrm>
          <a:prstGeom prst="ellipse">
            <a:avLst/>
          </a:prstGeom>
          <a:solidFill>
            <a:srgbClr val="993C1D"/>
          </a:solidFill>
          <a:ln/>
        </p:spPr>
      </p:sp>
      <p:sp>
        <p:nvSpPr>
          <p:cNvPr id="17" name="Text 15"/>
          <p:cNvSpPr/>
          <p:nvPr/>
        </p:nvSpPr>
        <p:spPr>
          <a:xfrm>
            <a:off x="548640" y="4526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8" name="Text 16"/>
          <p:cNvSpPr/>
          <p:nvPr/>
        </p:nvSpPr>
        <p:spPr>
          <a:xfrm>
            <a:off x="1188720" y="4480560"/>
            <a:ext cx="2286000" cy="548640"/>
          </a:xfrm>
          <a:prstGeom prst="rect">
            <a:avLst/>
          </a:prstGeom>
          <a:noFill/>
          <a:ln/>
        </p:spPr>
        <p:txBody>
          <a:bodyPr wrap="square"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Matching</a:t>
            </a:r>
            <a:endParaRPr lang="en-US" sz="1600" dirty="0"/>
          </a:p>
        </p:txBody>
      </p:sp>
      <p:sp>
        <p:nvSpPr>
          <p:cNvPr id="19" name="Text 17"/>
          <p:cNvSpPr/>
          <p:nvPr/>
        </p:nvSpPr>
        <p:spPr>
          <a:xfrm>
            <a:off x="3657600" y="4480560"/>
            <a:ext cx="3291840" cy="548640"/>
          </a:xfrm>
          <a:prstGeom prst="rect">
            <a:avLst/>
          </a:prstGeom>
          <a:noFill/>
          <a:ln/>
        </p:spPr>
        <p:txBody>
          <a:bodyPr wrap="square" rtlCol="0" anchor="ctr"/>
          <a:lstStyle/>
          <a:p>
            <a:pPr indent="0" marL="0">
              <a:buNone/>
            </a:pPr>
            <a:r>
              <a:rPr lang="en-US" sz="1300" dirty="0">
                <a:solidFill>
                  <a:srgbClr val="2B2B3A"/>
                </a:solidFill>
                <a:latin typeface="Calibri" pitchFamily="34" charset="0"/>
                <a:ea typeface="Calibri" pitchFamily="34" charset="-122"/>
                <a:cs typeface="Calibri" pitchFamily="34" charset="-120"/>
              </a:rPr>
              <a:t>Resolve to CPE + confirm version</a:t>
            </a:r>
            <a:endParaRPr lang="en-US" sz="1300" dirty="0"/>
          </a:p>
        </p:txBody>
      </p:sp>
      <p:sp>
        <p:nvSpPr>
          <p:cNvPr id="20" name="Shape 18"/>
          <p:cNvSpPr/>
          <p:nvPr/>
        </p:nvSpPr>
        <p:spPr>
          <a:xfrm>
            <a:off x="7132320" y="4389120"/>
            <a:ext cx="4480560" cy="777240"/>
          </a:xfrm>
          <a:prstGeom prst="roundRect">
            <a:avLst>
              <a:gd name="adj" fmla="val 7059"/>
            </a:avLst>
          </a:prstGeom>
          <a:solidFill>
            <a:srgbClr val="F4F6FC"/>
          </a:solidFill>
          <a:ln/>
        </p:spPr>
      </p:sp>
      <p:sp>
        <p:nvSpPr>
          <p:cNvPr id="21" name="Text 19"/>
          <p:cNvSpPr/>
          <p:nvPr/>
        </p:nvSpPr>
        <p:spPr>
          <a:xfrm>
            <a:off x="7315200" y="4389120"/>
            <a:ext cx="4114800" cy="777240"/>
          </a:xfrm>
          <a:prstGeom prst="rect">
            <a:avLst/>
          </a:prstGeom>
          <a:noFill/>
          <a:ln/>
        </p:spPr>
        <p:txBody>
          <a:bodyPr wrap="square" rtlCol="0" anchor="ctr"/>
          <a:lstStyle/>
          <a:p>
            <a:pPr indent="0" marL="0">
              <a:buNone/>
            </a:pPr>
            <a:r>
              <a:rPr lang="en-US" sz="1200" dirty="0">
                <a:solidFill>
                  <a:srgbClr val="2B2B3A"/>
                </a:solidFill>
                <a:latin typeface="Courier New" pitchFamily="34" charset="0"/>
                <a:ea typeface="Courier New" pitchFamily="34" charset="-122"/>
                <a:cs typeface="Courier New" pitchFamily="34" charset="-120"/>
              </a:rPr>
              <a:t>cpe:2.3:a:apache:log4j:2.14.1 — exact version match</a:t>
            </a:r>
            <a:endParaRPr lang="en-US" sz="1200" dirty="0"/>
          </a:p>
        </p:txBody>
      </p:sp>
      <p:sp>
        <p:nvSpPr>
          <p:cNvPr id="22" name="Text 20"/>
          <p:cNvSpPr/>
          <p:nvPr/>
        </p:nvSpPr>
        <p:spPr>
          <a:xfrm>
            <a:off x="548640" y="6537960"/>
            <a:ext cx="7315200" cy="274320"/>
          </a:xfrm>
          <a:prstGeom prst="rect">
            <a:avLst/>
          </a:prstGeom>
          <a:noFill/>
          <a:ln/>
        </p:spPr>
        <p:txBody>
          <a:bodyPr wrap="square" rtlCol="0" anchor="ctr"/>
          <a:lstStyle/>
          <a:p>
            <a:pPr indent="0" marL="0">
              <a:buNone/>
            </a:pPr>
            <a:r>
              <a:rPr lang="en-US" sz="900" dirty="0">
                <a:solidFill>
                  <a:srgbClr val="6E6E80"/>
                </a:solidFill>
                <a:latin typeface="Calibri" pitchFamily="34" charset="0"/>
                <a:ea typeface="Calibri" pitchFamily="34" charset="-122"/>
                <a:cs typeface="Calibri" pitchFamily="34" charset="-120"/>
              </a:rPr>
              <a:t>Extended IT Security Agent Architecture</a:t>
            </a:r>
            <a:endParaRPr lang="en-US" sz="900" dirty="0"/>
          </a:p>
        </p:txBody>
      </p:sp>
      <p:sp>
        <p:nvSpPr>
          <p:cNvPr id="23" name="Text 21"/>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E6E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rtlCol="0" anchor="ctr"/>
          <a:lstStyle/>
          <a:p>
            <a:pPr indent="0" marL="0">
              <a:buNone/>
            </a:pPr>
            <a:r>
              <a:rPr lang="en-US" sz="1200" b="1" spc="200" kern="0" dirty="0">
                <a:solidFill>
                  <a:srgbClr val="D85A30"/>
                </a:solidFill>
                <a:latin typeface="Calibri" pitchFamily="34" charset="0"/>
                <a:ea typeface="Calibri" pitchFamily="34" charset="-122"/>
                <a:cs typeface="Calibri" pitchFamily="34" charset="-120"/>
              </a:rPr>
              <a:t>STAGE D</a:t>
            </a:r>
            <a:endParaRPr lang="en-US" sz="1200" dirty="0"/>
          </a:p>
        </p:txBody>
      </p:sp>
      <p:sp>
        <p:nvSpPr>
          <p:cNvPr id="3" name="Text 1"/>
          <p:cNvSpPr/>
          <p:nvPr/>
        </p:nvSpPr>
        <p:spPr>
          <a:xfrm>
            <a:off x="548640" y="594360"/>
            <a:ext cx="10972800" cy="73152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NVD Retrieval: CVE + CVSS + CWE</a:t>
            </a:r>
            <a:endParaRPr lang="en-US" sz="2800" dirty="0"/>
          </a:p>
        </p:txBody>
      </p:sp>
      <p:sp>
        <p:nvSpPr>
          <p:cNvPr id="4" name="Shape 2"/>
          <p:cNvSpPr/>
          <p:nvPr/>
        </p:nvSpPr>
        <p:spPr>
          <a:xfrm>
            <a:off x="548640" y="1600200"/>
            <a:ext cx="11091672" cy="4206240"/>
          </a:xfrm>
          <a:prstGeom prst="roundRect">
            <a:avLst>
              <a:gd name="adj" fmla="val 2174"/>
            </a:avLst>
          </a:prstGeom>
          <a:solidFill>
            <a:srgbClr val="F4F6FC"/>
          </a:solidFill>
          <a:ln/>
        </p:spPr>
      </p:sp>
      <p:sp>
        <p:nvSpPr>
          <p:cNvPr id="5" name="Text 3"/>
          <p:cNvSpPr/>
          <p:nvPr/>
        </p:nvSpPr>
        <p:spPr>
          <a:xfrm>
            <a:off x="914400" y="1920240"/>
            <a:ext cx="2377440" cy="731520"/>
          </a:xfrm>
          <a:prstGeom prst="rect">
            <a:avLst/>
          </a:prstGeom>
          <a:noFill/>
          <a:ln/>
        </p:spPr>
        <p:txBody>
          <a:bodyPr wrap="square" rtlCol="0" anchor="t"/>
          <a:lstStyle/>
          <a:p>
            <a:pPr indent="0" marL="0">
              <a:buNone/>
            </a:pPr>
            <a:r>
              <a:rPr lang="en-US" sz="1400" b="1" dirty="0">
                <a:solidFill>
                  <a:srgbClr val="1E2761"/>
                </a:solidFill>
                <a:latin typeface="Cambria" pitchFamily="34" charset="0"/>
                <a:ea typeface="Cambria" pitchFamily="34" charset="-122"/>
                <a:cs typeface="Cambria" pitchFamily="34" charset="-120"/>
              </a:rPr>
              <a:t>CVE ID</a:t>
            </a:r>
            <a:endParaRPr lang="en-US" sz="1400" dirty="0"/>
          </a:p>
        </p:txBody>
      </p:sp>
      <p:sp>
        <p:nvSpPr>
          <p:cNvPr id="6" name="Text 4"/>
          <p:cNvSpPr/>
          <p:nvPr/>
        </p:nvSpPr>
        <p:spPr>
          <a:xfrm>
            <a:off x="3383280" y="1920240"/>
            <a:ext cx="7863840" cy="731520"/>
          </a:xfrm>
          <a:prstGeom prst="rect">
            <a:avLst/>
          </a:prstGeom>
          <a:noFill/>
          <a:ln/>
        </p:spPr>
        <p:txBody>
          <a:bodyPr wrap="square" rtlCol="0" anchor="t"/>
          <a:lstStyle/>
          <a:p>
            <a:pPr indent="0" marL="0">
              <a:buNone/>
            </a:pPr>
            <a:r>
              <a:rPr lang="en-US" sz="1400" dirty="0">
                <a:solidFill>
                  <a:srgbClr val="2B2B3A"/>
                </a:solidFill>
                <a:latin typeface="Calibri" pitchFamily="34" charset="0"/>
                <a:ea typeface="Calibri" pitchFamily="34" charset="-122"/>
                <a:cs typeface="Calibri" pitchFamily="34" charset="-120"/>
              </a:rPr>
              <a:t>CVE-2021-44228</a:t>
            </a:r>
            <a:endParaRPr lang="en-US" sz="1400" dirty="0"/>
          </a:p>
        </p:txBody>
      </p:sp>
      <p:sp>
        <p:nvSpPr>
          <p:cNvPr id="7" name="Text 5"/>
          <p:cNvSpPr/>
          <p:nvPr/>
        </p:nvSpPr>
        <p:spPr>
          <a:xfrm>
            <a:off x="914400" y="2834640"/>
            <a:ext cx="2377440" cy="731520"/>
          </a:xfrm>
          <a:prstGeom prst="rect">
            <a:avLst/>
          </a:prstGeom>
          <a:noFill/>
          <a:ln/>
        </p:spPr>
        <p:txBody>
          <a:bodyPr wrap="square" rtlCol="0" anchor="t"/>
          <a:lstStyle/>
          <a:p>
            <a:pPr indent="0" marL="0">
              <a:buNone/>
            </a:pPr>
            <a:r>
              <a:rPr lang="en-US" sz="1400" b="1" dirty="0">
                <a:solidFill>
                  <a:srgbClr val="1E2761"/>
                </a:solidFill>
                <a:latin typeface="Cambria" pitchFamily="34" charset="0"/>
                <a:ea typeface="Cambria" pitchFamily="34" charset="-122"/>
                <a:cs typeface="Cambria" pitchFamily="34" charset="-120"/>
              </a:rPr>
              <a:t>CVSS score</a:t>
            </a:r>
            <a:endParaRPr lang="en-US" sz="1400" dirty="0"/>
          </a:p>
        </p:txBody>
      </p:sp>
      <p:sp>
        <p:nvSpPr>
          <p:cNvPr id="8" name="Text 6"/>
          <p:cNvSpPr/>
          <p:nvPr/>
        </p:nvSpPr>
        <p:spPr>
          <a:xfrm>
            <a:off x="3383280" y="2834640"/>
            <a:ext cx="7863840" cy="731520"/>
          </a:xfrm>
          <a:prstGeom prst="rect">
            <a:avLst/>
          </a:prstGeom>
          <a:noFill/>
          <a:ln/>
        </p:spPr>
        <p:txBody>
          <a:bodyPr wrap="square" rtlCol="0" anchor="t"/>
          <a:lstStyle/>
          <a:p>
            <a:pPr indent="0" marL="0">
              <a:buNone/>
            </a:pPr>
            <a:r>
              <a:rPr lang="en-US" sz="1400" dirty="0">
                <a:solidFill>
                  <a:srgbClr val="2B2B3A"/>
                </a:solidFill>
                <a:latin typeface="Calibri" pitchFamily="34" charset="0"/>
                <a:ea typeface="Calibri" pitchFamily="34" charset="-122"/>
                <a:cs typeface="Calibri" pitchFamily="34" charset="-120"/>
              </a:rPr>
              <a:t>10.0 — CRITICAL</a:t>
            </a:r>
            <a:endParaRPr lang="en-US" sz="1400" dirty="0"/>
          </a:p>
        </p:txBody>
      </p:sp>
      <p:sp>
        <p:nvSpPr>
          <p:cNvPr id="9" name="Text 7"/>
          <p:cNvSpPr/>
          <p:nvPr/>
        </p:nvSpPr>
        <p:spPr>
          <a:xfrm>
            <a:off x="914400" y="3749040"/>
            <a:ext cx="2377440" cy="731520"/>
          </a:xfrm>
          <a:prstGeom prst="rect">
            <a:avLst/>
          </a:prstGeom>
          <a:noFill/>
          <a:ln/>
        </p:spPr>
        <p:txBody>
          <a:bodyPr wrap="square" rtlCol="0" anchor="t"/>
          <a:lstStyle/>
          <a:p>
            <a:pPr indent="0" marL="0">
              <a:buNone/>
            </a:pPr>
            <a:r>
              <a:rPr lang="en-US" sz="1400" b="1" dirty="0">
                <a:solidFill>
                  <a:srgbClr val="1E2761"/>
                </a:solidFill>
                <a:latin typeface="Cambria" pitchFamily="34" charset="0"/>
                <a:ea typeface="Cambria" pitchFamily="34" charset="-122"/>
                <a:cs typeface="Cambria" pitchFamily="34" charset="-120"/>
              </a:rPr>
              <a:t>CWE</a:t>
            </a:r>
            <a:endParaRPr lang="en-US" sz="1400" dirty="0"/>
          </a:p>
        </p:txBody>
      </p:sp>
      <p:sp>
        <p:nvSpPr>
          <p:cNvPr id="10" name="Text 8"/>
          <p:cNvSpPr/>
          <p:nvPr/>
        </p:nvSpPr>
        <p:spPr>
          <a:xfrm>
            <a:off x="3383280" y="3749040"/>
            <a:ext cx="7863840" cy="731520"/>
          </a:xfrm>
          <a:prstGeom prst="rect">
            <a:avLst/>
          </a:prstGeom>
          <a:noFill/>
          <a:ln/>
        </p:spPr>
        <p:txBody>
          <a:bodyPr wrap="square" rtlCol="0" anchor="t"/>
          <a:lstStyle/>
          <a:p>
            <a:pPr indent="0" marL="0">
              <a:buNone/>
            </a:pPr>
            <a:r>
              <a:rPr lang="en-US" sz="1400" dirty="0">
                <a:solidFill>
                  <a:srgbClr val="2B2B3A"/>
                </a:solidFill>
                <a:latin typeface="Calibri" pitchFamily="34" charset="0"/>
                <a:ea typeface="Calibri" pitchFamily="34" charset="-122"/>
                <a:cs typeface="Calibri" pitchFamily="34" charset="-120"/>
              </a:rPr>
              <a:t>CWE-502: Deserialization of Untrusted Data</a:t>
            </a:r>
            <a:endParaRPr lang="en-US" sz="1400" dirty="0"/>
          </a:p>
        </p:txBody>
      </p:sp>
      <p:sp>
        <p:nvSpPr>
          <p:cNvPr id="11" name="Text 9"/>
          <p:cNvSpPr/>
          <p:nvPr/>
        </p:nvSpPr>
        <p:spPr>
          <a:xfrm>
            <a:off x="914400" y="4663440"/>
            <a:ext cx="2377440" cy="731520"/>
          </a:xfrm>
          <a:prstGeom prst="rect">
            <a:avLst/>
          </a:prstGeom>
          <a:noFill/>
          <a:ln/>
        </p:spPr>
        <p:txBody>
          <a:bodyPr wrap="square" rtlCol="0" anchor="t"/>
          <a:lstStyle/>
          <a:p>
            <a:pPr indent="0" marL="0">
              <a:buNone/>
            </a:pPr>
            <a:r>
              <a:rPr lang="en-US" sz="1400" b="1" dirty="0">
                <a:solidFill>
                  <a:srgbClr val="1E2761"/>
                </a:solidFill>
                <a:latin typeface="Cambria" pitchFamily="34" charset="0"/>
                <a:ea typeface="Cambria" pitchFamily="34" charset="-122"/>
                <a:cs typeface="Cambria" pitchFamily="34" charset="-120"/>
              </a:rPr>
              <a:t>Description</a:t>
            </a:r>
            <a:endParaRPr lang="en-US" sz="1400" dirty="0"/>
          </a:p>
        </p:txBody>
      </p:sp>
      <p:sp>
        <p:nvSpPr>
          <p:cNvPr id="12" name="Text 10"/>
          <p:cNvSpPr/>
          <p:nvPr/>
        </p:nvSpPr>
        <p:spPr>
          <a:xfrm>
            <a:off x="3383280" y="4663440"/>
            <a:ext cx="7863840" cy="731520"/>
          </a:xfrm>
          <a:prstGeom prst="rect">
            <a:avLst/>
          </a:prstGeom>
          <a:noFill/>
          <a:ln/>
        </p:spPr>
        <p:txBody>
          <a:bodyPr wrap="square" rtlCol="0" anchor="t"/>
          <a:lstStyle/>
          <a:p>
            <a:pPr indent="0" marL="0">
              <a:buNone/>
            </a:pPr>
            <a:r>
              <a:rPr lang="en-US" sz="1400" dirty="0">
                <a:solidFill>
                  <a:srgbClr val="2B2B3A"/>
                </a:solidFill>
                <a:latin typeface="Calibri" pitchFamily="34" charset="0"/>
                <a:ea typeface="Calibri" pitchFamily="34" charset="-122"/>
                <a:cs typeface="Calibri" pitchFamily="34" charset="-120"/>
              </a:rPr>
              <a:t>Apache Log4j2 JNDI features do not protect against attacker-controlled LDAP, enabling remote code execution.</a:t>
            </a:r>
            <a:endParaRPr lang="en-US" sz="1400" dirty="0"/>
          </a:p>
        </p:txBody>
      </p:sp>
      <p:sp>
        <p:nvSpPr>
          <p:cNvPr id="13" name="Text 11"/>
          <p:cNvSpPr/>
          <p:nvPr/>
        </p:nvSpPr>
        <p:spPr>
          <a:xfrm>
            <a:off x="914400" y="5349240"/>
            <a:ext cx="10332720" cy="365760"/>
          </a:xfrm>
          <a:prstGeom prst="rect">
            <a:avLst/>
          </a:prstGeom>
          <a:noFill/>
          <a:ln/>
        </p:spPr>
        <p:txBody>
          <a:bodyPr wrap="square" rtlCol="0" anchor="ctr"/>
          <a:lstStyle/>
          <a:p>
            <a:pPr indent="0" marL="0">
              <a:buNone/>
            </a:pPr>
            <a:r>
              <a:rPr lang="en-US" sz="1200" i="1" dirty="0">
                <a:solidFill>
                  <a:srgbClr val="6E6E80"/>
                </a:solidFill>
                <a:latin typeface="Calibri" pitchFamily="34" charset="0"/>
                <a:ea typeface="Calibri" pitchFamily="34" charset="-122"/>
                <a:cs typeface="Calibri" pitchFamily="34" charset="-120"/>
              </a:rPr>
              <a:t>CWE classifies the type of flaw, not just this one instance — useful for grouping and trend analysis across many CVEs.</a:t>
            </a:r>
            <a:endParaRPr lang="en-US" sz="1200" dirty="0"/>
          </a:p>
        </p:txBody>
      </p:sp>
      <p:sp>
        <p:nvSpPr>
          <p:cNvPr id="14" name="Text 12"/>
          <p:cNvSpPr/>
          <p:nvPr/>
        </p:nvSpPr>
        <p:spPr>
          <a:xfrm>
            <a:off x="548640" y="6537960"/>
            <a:ext cx="7315200" cy="274320"/>
          </a:xfrm>
          <a:prstGeom prst="rect">
            <a:avLst/>
          </a:prstGeom>
          <a:noFill/>
          <a:ln/>
        </p:spPr>
        <p:txBody>
          <a:bodyPr wrap="square" rtlCol="0" anchor="ctr"/>
          <a:lstStyle/>
          <a:p>
            <a:pPr indent="0" marL="0">
              <a:buNone/>
            </a:pPr>
            <a:r>
              <a:rPr lang="en-US" sz="900" dirty="0">
                <a:solidFill>
                  <a:srgbClr val="6E6E80"/>
                </a:solidFill>
                <a:latin typeface="Calibri" pitchFamily="34" charset="0"/>
                <a:ea typeface="Calibri" pitchFamily="34" charset="-122"/>
                <a:cs typeface="Calibri" pitchFamily="34" charset="-120"/>
              </a:rPr>
              <a:t>Extended IT Security Agent Architecture</a:t>
            </a:r>
            <a:endParaRPr lang="en-US" sz="900" dirty="0"/>
          </a:p>
        </p:txBody>
      </p:sp>
      <p:sp>
        <p:nvSpPr>
          <p:cNvPr id="15" name="Text 13"/>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E6E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rtlCol="0" anchor="ctr"/>
          <a:lstStyle/>
          <a:p>
            <a:pPr indent="0" marL="0">
              <a:buNone/>
            </a:pPr>
            <a:r>
              <a:rPr lang="en-US" sz="1200" b="1" spc="200" kern="0" dirty="0">
                <a:solidFill>
                  <a:srgbClr val="D85A30"/>
                </a:solidFill>
                <a:latin typeface="Calibri" pitchFamily="34" charset="0"/>
                <a:ea typeface="Calibri" pitchFamily="34" charset="-122"/>
                <a:cs typeface="Calibri" pitchFamily="34" charset="-120"/>
              </a:rPr>
              <a:t>STAGE E</a:t>
            </a:r>
            <a:endParaRPr lang="en-US" sz="1200" dirty="0"/>
          </a:p>
        </p:txBody>
      </p:sp>
      <p:sp>
        <p:nvSpPr>
          <p:cNvPr id="3" name="Text 1"/>
          <p:cNvSpPr/>
          <p:nvPr/>
        </p:nvSpPr>
        <p:spPr>
          <a:xfrm>
            <a:off x="548640" y="594360"/>
            <a:ext cx="10972800" cy="73152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Threat Intelligence: KEV + EPSS + ATT&amp;CK</a:t>
            </a:r>
            <a:endParaRPr lang="en-US" sz="2800" dirty="0"/>
          </a:p>
        </p:txBody>
      </p:sp>
      <p:sp>
        <p:nvSpPr>
          <p:cNvPr id="4" name="Shape 2"/>
          <p:cNvSpPr/>
          <p:nvPr/>
        </p:nvSpPr>
        <p:spPr>
          <a:xfrm>
            <a:off x="548640" y="1645920"/>
            <a:ext cx="3520440" cy="4114800"/>
          </a:xfrm>
          <a:prstGeom prst="roundRect">
            <a:avLst>
              <a:gd name="adj" fmla="val 2597"/>
            </a:avLst>
          </a:prstGeom>
          <a:solidFill>
            <a:srgbClr val="F4F6FC"/>
          </a:solidFill>
          <a:ln w="12700">
            <a:solidFill>
              <a:srgbClr val="993556"/>
            </a:solidFill>
            <a:prstDash val="solid"/>
          </a:ln>
        </p:spPr>
      </p:sp>
      <p:sp>
        <p:nvSpPr>
          <p:cNvPr id="5" name="Shape 3"/>
          <p:cNvSpPr/>
          <p:nvPr/>
        </p:nvSpPr>
        <p:spPr>
          <a:xfrm>
            <a:off x="822960" y="1874520"/>
            <a:ext cx="457200" cy="457200"/>
          </a:xfrm>
          <a:prstGeom prst="ellipse">
            <a:avLst/>
          </a:prstGeom>
          <a:solidFill>
            <a:srgbClr val="993556"/>
          </a:solidFill>
          <a:ln/>
        </p:spPr>
      </p:sp>
      <p:sp>
        <p:nvSpPr>
          <p:cNvPr id="6" name="Text 4"/>
          <p:cNvSpPr/>
          <p:nvPr/>
        </p:nvSpPr>
        <p:spPr>
          <a:xfrm>
            <a:off x="822960" y="2514600"/>
            <a:ext cx="2971800" cy="457200"/>
          </a:xfrm>
          <a:prstGeom prst="rect">
            <a:avLst/>
          </a:prstGeom>
          <a:noFill/>
          <a:ln/>
        </p:spPr>
        <p:txBody>
          <a:bodyPr wrap="square"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KEV</a:t>
            </a:r>
            <a:endParaRPr lang="en-US" sz="1600" dirty="0"/>
          </a:p>
        </p:txBody>
      </p:sp>
      <p:sp>
        <p:nvSpPr>
          <p:cNvPr id="7" name="Text 5"/>
          <p:cNvSpPr/>
          <p:nvPr/>
        </p:nvSpPr>
        <p:spPr>
          <a:xfrm>
            <a:off x="822960" y="3017520"/>
            <a:ext cx="2971800" cy="548640"/>
          </a:xfrm>
          <a:prstGeom prst="rect">
            <a:avLst/>
          </a:prstGeom>
          <a:noFill/>
          <a:ln/>
        </p:spPr>
        <p:txBody>
          <a:bodyPr wrap="square" rtlCol="0" anchor="ctr"/>
          <a:lstStyle/>
          <a:p>
            <a:pPr indent="0" marL="0">
              <a:buNone/>
            </a:pPr>
            <a:r>
              <a:rPr lang="en-US" sz="2000" b="1" dirty="0">
                <a:solidFill>
                  <a:srgbClr val="993556"/>
                </a:solidFill>
                <a:latin typeface="Cambria" pitchFamily="34" charset="0"/>
                <a:ea typeface="Cambria" pitchFamily="34" charset="-122"/>
                <a:cs typeface="Cambria" pitchFamily="34" charset="-120"/>
              </a:rPr>
              <a:t>Yes — added 2021-12-10</a:t>
            </a:r>
            <a:endParaRPr lang="en-US" sz="2000" dirty="0"/>
          </a:p>
        </p:txBody>
      </p:sp>
      <p:sp>
        <p:nvSpPr>
          <p:cNvPr id="8" name="Text 6"/>
          <p:cNvSpPr/>
          <p:nvPr/>
        </p:nvSpPr>
        <p:spPr>
          <a:xfrm>
            <a:off x="822960" y="3657600"/>
            <a:ext cx="2971800" cy="1920240"/>
          </a:xfrm>
          <a:prstGeom prst="rect">
            <a:avLst/>
          </a:prstGeom>
          <a:noFill/>
          <a:ln/>
        </p:spPr>
        <p:txBody>
          <a:bodyPr wrap="square" rtlCol="0" anchor="t"/>
          <a:lstStyle/>
          <a:p>
            <a:pPr indent="0" marL="0">
              <a:buNone/>
            </a:pPr>
            <a:r>
              <a:rPr lang="en-US" sz="1250" dirty="0">
                <a:solidFill>
                  <a:srgbClr val="2B2B3A"/>
                </a:solidFill>
                <a:latin typeface="Calibri" pitchFamily="34" charset="0"/>
                <a:ea typeface="Calibri" pitchFamily="34" charset="-122"/>
                <a:cs typeface="Calibri" pitchFamily="34" charset="-120"/>
              </a:rPr>
              <a:t>Confirmed actively exploited in the wild, not just theoretical risk.</a:t>
            </a:r>
            <a:endParaRPr lang="en-US" sz="1250" dirty="0"/>
          </a:p>
        </p:txBody>
      </p:sp>
      <p:sp>
        <p:nvSpPr>
          <p:cNvPr id="9" name="Shape 7"/>
          <p:cNvSpPr/>
          <p:nvPr/>
        </p:nvSpPr>
        <p:spPr>
          <a:xfrm>
            <a:off x="4325112" y="1645920"/>
            <a:ext cx="3520440" cy="4114800"/>
          </a:xfrm>
          <a:prstGeom prst="roundRect">
            <a:avLst>
              <a:gd name="adj" fmla="val 2597"/>
            </a:avLst>
          </a:prstGeom>
          <a:solidFill>
            <a:srgbClr val="F4F6FC"/>
          </a:solidFill>
          <a:ln w="12700">
            <a:solidFill>
              <a:srgbClr val="854F0B"/>
            </a:solidFill>
            <a:prstDash val="solid"/>
          </a:ln>
        </p:spPr>
      </p:sp>
      <p:sp>
        <p:nvSpPr>
          <p:cNvPr id="10" name="Shape 8"/>
          <p:cNvSpPr/>
          <p:nvPr/>
        </p:nvSpPr>
        <p:spPr>
          <a:xfrm>
            <a:off x="4599432" y="1874520"/>
            <a:ext cx="457200" cy="457200"/>
          </a:xfrm>
          <a:prstGeom prst="ellipse">
            <a:avLst/>
          </a:prstGeom>
          <a:solidFill>
            <a:srgbClr val="854F0B"/>
          </a:solidFill>
          <a:ln/>
        </p:spPr>
      </p:sp>
      <p:sp>
        <p:nvSpPr>
          <p:cNvPr id="11" name="Text 9"/>
          <p:cNvSpPr/>
          <p:nvPr/>
        </p:nvSpPr>
        <p:spPr>
          <a:xfrm>
            <a:off x="4599432" y="2514600"/>
            <a:ext cx="2971800" cy="457200"/>
          </a:xfrm>
          <a:prstGeom prst="rect">
            <a:avLst/>
          </a:prstGeom>
          <a:noFill/>
          <a:ln/>
        </p:spPr>
        <p:txBody>
          <a:bodyPr wrap="square"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EPSS</a:t>
            </a:r>
            <a:endParaRPr lang="en-US" sz="1600" dirty="0"/>
          </a:p>
        </p:txBody>
      </p:sp>
      <p:sp>
        <p:nvSpPr>
          <p:cNvPr id="12" name="Text 10"/>
          <p:cNvSpPr/>
          <p:nvPr/>
        </p:nvSpPr>
        <p:spPr>
          <a:xfrm>
            <a:off x="4599432" y="3017520"/>
            <a:ext cx="2971800" cy="548640"/>
          </a:xfrm>
          <a:prstGeom prst="rect">
            <a:avLst/>
          </a:prstGeom>
          <a:noFill/>
          <a:ln/>
        </p:spPr>
        <p:txBody>
          <a:bodyPr wrap="square" rtlCol="0" anchor="ctr"/>
          <a:lstStyle/>
          <a:p>
            <a:pPr indent="0" marL="0">
              <a:buNone/>
            </a:pPr>
            <a:r>
              <a:rPr lang="en-US" sz="2000" b="1" dirty="0">
                <a:solidFill>
                  <a:srgbClr val="854F0B"/>
                </a:solidFill>
                <a:latin typeface="Cambria" pitchFamily="34" charset="0"/>
                <a:ea typeface="Cambria" pitchFamily="34" charset="-122"/>
                <a:cs typeface="Cambria" pitchFamily="34" charset="-120"/>
              </a:rPr>
              <a:t>0.94 (94th percentile)</a:t>
            </a:r>
            <a:endParaRPr lang="en-US" sz="2000" dirty="0"/>
          </a:p>
        </p:txBody>
      </p:sp>
      <p:sp>
        <p:nvSpPr>
          <p:cNvPr id="13" name="Text 11"/>
          <p:cNvSpPr/>
          <p:nvPr/>
        </p:nvSpPr>
        <p:spPr>
          <a:xfrm>
            <a:off x="4599432" y="3657600"/>
            <a:ext cx="2971800" cy="1920240"/>
          </a:xfrm>
          <a:prstGeom prst="rect">
            <a:avLst/>
          </a:prstGeom>
          <a:noFill/>
          <a:ln/>
        </p:spPr>
        <p:txBody>
          <a:bodyPr wrap="square" rtlCol="0" anchor="t"/>
          <a:lstStyle/>
          <a:p>
            <a:pPr indent="0" marL="0">
              <a:buNone/>
            </a:pPr>
            <a:r>
              <a:rPr lang="en-US" sz="1250" dirty="0">
                <a:solidFill>
                  <a:srgbClr val="2B2B3A"/>
                </a:solidFill>
                <a:latin typeface="Calibri" pitchFamily="34" charset="0"/>
                <a:ea typeface="Calibri" pitchFamily="34" charset="-122"/>
                <a:cs typeface="Calibri" pitchFamily="34" charset="-120"/>
              </a:rPr>
              <a:t>94% predicted probability of exploitation in the next 30 days.</a:t>
            </a:r>
            <a:endParaRPr lang="en-US" sz="1250" dirty="0"/>
          </a:p>
        </p:txBody>
      </p:sp>
      <p:sp>
        <p:nvSpPr>
          <p:cNvPr id="14" name="Shape 12"/>
          <p:cNvSpPr/>
          <p:nvPr/>
        </p:nvSpPr>
        <p:spPr>
          <a:xfrm>
            <a:off x="8101584" y="1645920"/>
            <a:ext cx="3520440" cy="4114800"/>
          </a:xfrm>
          <a:prstGeom prst="roundRect">
            <a:avLst>
              <a:gd name="adj" fmla="val 2597"/>
            </a:avLst>
          </a:prstGeom>
          <a:solidFill>
            <a:srgbClr val="F4F6FC"/>
          </a:solidFill>
          <a:ln w="12700">
            <a:solidFill>
              <a:srgbClr val="534AB7"/>
            </a:solidFill>
            <a:prstDash val="solid"/>
          </a:ln>
        </p:spPr>
      </p:sp>
      <p:sp>
        <p:nvSpPr>
          <p:cNvPr id="15" name="Shape 13"/>
          <p:cNvSpPr/>
          <p:nvPr/>
        </p:nvSpPr>
        <p:spPr>
          <a:xfrm>
            <a:off x="8375904" y="1874520"/>
            <a:ext cx="457200" cy="457200"/>
          </a:xfrm>
          <a:prstGeom prst="ellipse">
            <a:avLst/>
          </a:prstGeom>
          <a:solidFill>
            <a:srgbClr val="534AB7"/>
          </a:solidFill>
          <a:ln/>
        </p:spPr>
      </p:sp>
      <p:sp>
        <p:nvSpPr>
          <p:cNvPr id="16" name="Text 14"/>
          <p:cNvSpPr/>
          <p:nvPr/>
        </p:nvSpPr>
        <p:spPr>
          <a:xfrm>
            <a:off x="8375904" y="2514600"/>
            <a:ext cx="2971800" cy="457200"/>
          </a:xfrm>
          <a:prstGeom prst="rect">
            <a:avLst/>
          </a:prstGeom>
          <a:noFill/>
          <a:ln/>
        </p:spPr>
        <p:txBody>
          <a:bodyPr wrap="square"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MITRE ATT&amp;CK</a:t>
            </a:r>
            <a:endParaRPr lang="en-US" sz="1600" dirty="0"/>
          </a:p>
        </p:txBody>
      </p:sp>
      <p:sp>
        <p:nvSpPr>
          <p:cNvPr id="17" name="Text 15"/>
          <p:cNvSpPr/>
          <p:nvPr/>
        </p:nvSpPr>
        <p:spPr>
          <a:xfrm>
            <a:off x="8375904" y="3017520"/>
            <a:ext cx="2971800" cy="548640"/>
          </a:xfrm>
          <a:prstGeom prst="rect">
            <a:avLst/>
          </a:prstGeom>
          <a:noFill/>
          <a:ln/>
        </p:spPr>
        <p:txBody>
          <a:bodyPr wrap="square" rtlCol="0" anchor="ctr"/>
          <a:lstStyle/>
          <a:p>
            <a:pPr indent="0" marL="0">
              <a:buNone/>
            </a:pPr>
            <a:r>
              <a:rPr lang="en-US" sz="2000" b="1" dirty="0">
                <a:solidFill>
                  <a:srgbClr val="534AB7"/>
                </a:solidFill>
                <a:latin typeface="Cambria" pitchFamily="34" charset="0"/>
                <a:ea typeface="Cambria" pitchFamily="34" charset="-122"/>
                <a:cs typeface="Cambria" pitchFamily="34" charset="-120"/>
              </a:rPr>
              <a:t>T1190</a:t>
            </a:r>
            <a:endParaRPr lang="en-US" sz="2000" dirty="0"/>
          </a:p>
        </p:txBody>
      </p:sp>
      <p:sp>
        <p:nvSpPr>
          <p:cNvPr id="18" name="Text 16"/>
          <p:cNvSpPr/>
          <p:nvPr/>
        </p:nvSpPr>
        <p:spPr>
          <a:xfrm>
            <a:off x="8375904" y="3657600"/>
            <a:ext cx="2971800" cy="1920240"/>
          </a:xfrm>
          <a:prstGeom prst="rect">
            <a:avLst/>
          </a:prstGeom>
          <a:noFill/>
          <a:ln/>
        </p:spPr>
        <p:txBody>
          <a:bodyPr wrap="square" rtlCol="0" anchor="t"/>
          <a:lstStyle/>
          <a:p>
            <a:pPr indent="0" marL="0">
              <a:buNone/>
            </a:pPr>
            <a:r>
              <a:rPr lang="en-US" sz="1250" dirty="0">
                <a:solidFill>
                  <a:srgbClr val="2B2B3A"/>
                </a:solidFill>
                <a:latin typeface="Calibri" pitchFamily="34" charset="0"/>
                <a:ea typeface="Calibri" pitchFamily="34" charset="-122"/>
                <a:cs typeface="Calibri" pitchFamily="34" charset="-120"/>
              </a:rPr>
              <a:t>"Exploit Public-Facing Application" — the real-world technique this enables.</a:t>
            </a:r>
            <a:endParaRPr lang="en-US" sz="1250" dirty="0"/>
          </a:p>
        </p:txBody>
      </p:sp>
      <p:sp>
        <p:nvSpPr>
          <p:cNvPr id="19" name="Text 17"/>
          <p:cNvSpPr/>
          <p:nvPr/>
        </p:nvSpPr>
        <p:spPr>
          <a:xfrm>
            <a:off x="548640" y="6537960"/>
            <a:ext cx="7315200" cy="274320"/>
          </a:xfrm>
          <a:prstGeom prst="rect">
            <a:avLst/>
          </a:prstGeom>
          <a:noFill/>
          <a:ln/>
        </p:spPr>
        <p:txBody>
          <a:bodyPr wrap="square" rtlCol="0" anchor="ctr"/>
          <a:lstStyle/>
          <a:p>
            <a:pPr indent="0" marL="0">
              <a:buNone/>
            </a:pPr>
            <a:r>
              <a:rPr lang="en-US" sz="900" dirty="0">
                <a:solidFill>
                  <a:srgbClr val="6E6E80"/>
                </a:solidFill>
                <a:latin typeface="Calibri" pitchFamily="34" charset="0"/>
                <a:ea typeface="Calibri" pitchFamily="34" charset="-122"/>
                <a:cs typeface="Calibri" pitchFamily="34" charset="-120"/>
              </a:rPr>
              <a:t>Extended IT Security Agent Architecture</a:t>
            </a:r>
            <a:endParaRPr lang="en-US" sz="900" dirty="0"/>
          </a:p>
        </p:txBody>
      </p:sp>
      <p:sp>
        <p:nvSpPr>
          <p:cNvPr id="20" name="Text 18"/>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E6E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rtlCol="0" anchor="ctr"/>
          <a:lstStyle/>
          <a:p>
            <a:pPr indent="0" marL="0">
              <a:buNone/>
            </a:pPr>
            <a:r>
              <a:rPr lang="en-US" sz="1200" b="1" spc="200" kern="0" dirty="0">
                <a:solidFill>
                  <a:srgbClr val="D85A30"/>
                </a:solidFill>
                <a:latin typeface="Calibri" pitchFamily="34" charset="0"/>
                <a:ea typeface="Calibri" pitchFamily="34" charset="-122"/>
                <a:cs typeface="Calibri" pitchFamily="34" charset="-120"/>
              </a:rPr>
              <a:t>STAGE F</a:t>
            </a:r>
            <a:endParaRPr lang="en-US" sz="1200" dirty="0"/>
          </a:p>
        </p:txBody>
      </p:sp>
      <p:sp>
        <p:nvSpPr>
          <p:cNvPr id="3" name="Text 1"/>
          <p:cNvSpPr/>
          <p:nvPr/>
        </p:nvSpPr>
        <p:spPr>
          <a:xfrm>
            <a:off x="548640" y="594360"/>
            <a:ext cx="10972800" cy="73152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LLM Reasoning Engine</a:t>
            </a:r>
            <a:endParaRPr lang="en-US" sz="2800" dirty="0"/>
          </a:p>
        </p:txBody>
      </p:sp>
      <p:sp>
        <p:nvSpPr>
          <p:cNvPr id="4" name="Text 2"/>
          <p:cNvSpPr/>
          <p:nvPr/>
        </p:nvSpPr>
        <p:spPr>
          <a:xfrm>
            <a:off x="548640" y="1554480"/>
            <a:ext cx="10515600" cy="457200"/>
          </a:xfrm>
          <a:prstGeom prst="rect">
            <a:avLst/>
          </a:prstGeom>
          <a:noFill/>
          <a:ln/>
        </p:spPr>
        <p:txBody>
          <a:bodyPr wrap="square" rtlCol="0" anchor="ctr"/>
          <a:lstStyle/>
          <a:p>
            <a:pPr indent="0" marL="0">
              <a:buNone/>
            </a:pPr>
            <a:r>
              <a:rPr lang="en-US" sz="1400" dirty="0">
                <a:solidFill>
                  <a:srgbClr val="2B2B3A"/>
                </a:solidFill>
                <a:latin typeface="Calibri" pitchFamily="34" charset="0"/>
                <a:ea typeface="Calibri" pitchFamily="34" charset="-122"/>
                <a:cs typeface="Calibri" pitchFamily="34" charset="-120"/>
              </a:rPr>
              <a:t>The LLM synthesizes stages D and E into a written risk narrative — not just a table of matches:</a:t>
            </a:r>
            <a:endParaRPr lang="en-US" sz="1400" dirty="0"/>
          </a:p>
        </p:txBody>
      </p:sp>
      <p:sp>
        <p:nvSpPr>
          <p:cNvPr id="5" name="Shape 3"/>
          <p:cNvSpPr/>
          <p:nvPr/>
        </p:nvSpPr>
        <p:spPr>
          <a:xfrm>
            <a:off x="548640" y="2103120"/>
            <a:ext cx="11091672" cy="3566160"/>
          </a:xfrm>
          <a:prstGeom prst="roundRect">
            <a:avLst>
              <a:gd name="adj" fmla="val 2564"/>
            </a:avLst>
          </a:prstGeom>
          <a:solidFill>
            <a:srgbClr val="1E2761"/>
          </a:solidFill>
          <a:ln/>
        </p:spPr>
      </p:sp>
      <p:sp>
        <p:nvSpPr>
          <p:cNvPr id="6" name="Text 4"/>
          <p:cNvSpPr/>
          <p:nvPr/>
        </p:nvSpPr>
        <p:spPr>
          <a:xfrm>
            <a:off x="822960" y="2331720"/>
            <a:ext cx="10515600" cy="3200400"/>
          </a:xfrm>
          <a:prstGeom prst="rect">
            <a:avLst/>
          </a:prstGeom>
          <a:noFill/>
          <a:ln/>
        </p:spPr>
        <p:txBody>
          <a:bodyPr wrap="square"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CVE-2021-44228 (Log4Shell) — CRITICAL, act immediately.
</a:t>
            </a:r>
            <a:endParaRPr lang="en-US" sz="1500" dirty="0"/>
          </a:p>
          <a:p>
            <a:pPr indent="0" marL="0">
              <a:buNone/>
            </a:pPr>
            <a:r>
              <a:rPr lang="en-US" sz="1300" dirty="0">
                <a:solidFill>
                  <a:srgbClr val="CADCFC"/>
                </a:solidFill>
                <a:latin typeface="Calibri" pitchFamily="34" charset="0"/>
                <a:ea typeface="Calibri" pitchFamily="34" charset="-122"/>
                <a:cs typeface="Calibri" pitchFamily="34" charset="-120"/>
              </a:rPr>
              <a:t>This is a maximum-severity remote code execution flaw (CVSS 10.0) that is both confirmed actively exploited (CISA KEV) and highly likely to be targeted again (EPSS 94th percentile). It maps to MITRE technique T1190, meaning attackers can trigger it through public-facing application input alone — no prior access needed.
</a:t>
            </a:r>
            <a:endParaRPr lang="en-US" sz="1500" dirty="0"/>
          </a:p>
          <a:p>
            <a:pPr indent="0" marL="0">
              <a:buNone/>
            </a:pPr>
            <a:r>
              <a:rPr lang="en-US" sz="1300" dirty="0">
                <a:solidFill>
                  <a:srgbClr val="CADCFC"/>
                </a:solidFill>
                <a:latin typeface="Calibri" pitchFamily="34" charset="0"/>
                <a:ea typeface="Calibri" pitchFamily="34" charset="-122"/>
                <a:cs typeface="Calibri" pitchFamily="34" charset="-120"/>
              </a:rPr>
              <a:t>Recommendation: Patch to Log4j 2.17.1+ immediately, or apply the JNDI lookup mitigation if patching is blocked. Treat as a priority-1 finding regardless of this system's exposure, given active in-the-wild exploitation.</a:t>
            </a:r>
            <a:endParaRPr lang="en-US" sz="1500" dirty="0"/>
          </a:p>
        </p:txBody>
      </p:sp>
      <p:sp>
        <p:nvSpPr>
          <p:cNvPr id="7" name="Text 5"/>
          <p:cNvSpPr/>
          <p:nvPr/>
        </p:nvSpPr>
        <p:spPr>
          <a:xfrm>
            <a:off x="548640" y="6537960"/>
            <a:ext cx="7315200" cy="274320"/>
          </a:xfrm>
          <a:prstGeom prst="rect">
            <a:avLst/>
          </a:prstGeom>
          <a:noFill/>
          <a:ln/>
        </p:spPr>
        <p:txBody>
          <a:bodyPr wrap="square" rtlCol="0" anchor="ctr"/>
          <a:lstStyle/>
          <a:p>
            <a:pPr indent="0" marL="0">
              <a:buNone/>
            </a:pPr>
            <a:r>
              <a:rPr lang="en-US" sz="900" dirty="0">
                <a:solidFill>
                  <a:srgbClr val="6E6E80"/>
                </a:solidFill>
                <a:latin typeface="Calibri" pitchFamily="34" charset="0"/>
                <a:ea typeface="Calibri" pitchFamily="34" charset="-122"/>
                <a:cs typeface="Calibri" pitchFamily="34" charset="-120"/>
              </a:rPr>
              <a:t>Extended IT Security Agent Architecture</a:t>
            </a:r>
            <a:endParaRPr lang="en-US" sz="900" dirty="0"/>
          </a:p>
        </p:txBody>
      </p:sp>
      <p:sp>
        <p:nvSpPr>
          <p:cNvPr id="8" name="Text 6"/>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E6E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rtlCol="0" anchor="ctr"/>
          <a:lstStyle/>
          <a:p>
            <a:pPr indent="0" marL="0">
              <a:buNone/>
            </a:pPr>
            <a:r>
              <a:rPr lang="en-US" sz="1200" b="1" spc="200" kern="0" dirty="0">
                <a:solidFill>
                  <a:srgbClr val="D85A30"/>
                </a:solidFill>
                <a:latin typeface="Calibri" pitchFamily="34" charset="0"/>
                <a:ea typeface="Calibri" pitchFamily="34" charset="-122"/>
                <a:cs typeface="Calibri" pitchFamily="34" charset="-120"/>
              </a:rPr>
              <a:t>STAGE G</a:t>
            </a:r>
            <a:endParaRPr lang="en-US" sz="1200" dirty="0"/>
          </a:p>
        </p:txBody>
      </p:sp>
      <p:sp>
        <p:nvSpPr>
          <p:cNvPr id="3" name="Text 1"/>
          <p:cNvSpPr/>
          <p:nvPr/>
        </p:nvSpPr>
        <p:spPr>
          <a:xfrm>
            <a:off x="548640" y="594360"/>
            <a:ext cx="10972800" cy="73152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Responsible AI Layer</a:t>
            </a:r>
            <a:endParaRPr lang="en-US" sz="2800" dirty="0"/>
          </a:p>
        </p:txBody>
      </p:sp>
      <p:sp>
        <p:nvSpPr>
          <p:cNvPr id="4" name="Shape 2"/>
          <p:cNvSpPr/>
          <p:nvPr/>
        </p:nvSpPr>
        <p:spPr>
          <a:xfrm>
            <a:off x="548640" y="1645920"/>
            <a:ext cx="3520440" cy="4114800"/>
          </a:xfrm>
          <a:prstGeom prst="roundRect">
            <a:avLst>
              <a:gd name="adj" fmla="val 2597"/>
            </a:avLst>
          </a:prstGeom>
          <a:solidFill>
            <a:srgbClr val="F4F6FC"/>
          </a:solidFill>
          <a:ln w="12700">
            <a:solidFill>
              <a:srgbClr val="185FA5"/>
            </a:solidFill>
            <a:prstDash val="solid"/>
          </a:ln>
        </p:spPr>
      </p:sp>
      <p:sp>
        <p:nvSpPr>
          <p:cNvPr id="5" name="Text 3"/>
          <p:cNvSpPr/>
          <p:nvPr/>
        </p:nvSpPr>
        <p:spPr>
          <a:xfrm>
            <a:off x="822960" y="1920240"/>
            <a:ext cx="2971800" cy="457200"/>
          </a:xfrm>
          <a:prstGeom prst="rect">
            <a:avLst/>
          </a:prstGeom>
          <a:noFill/>
          <a:ln/>
        </p:spPr>
        <p:txBody>
          <a:bodyPr wrap="square"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Confidence</a:t>
            </a:r>
            <a:endParaRPr lang="en-US" sz="1600" dirty="0"/>
          </a:p>
        </p:txBody>
      </p:sp>
      <p:sp>
        <p:nvSpPr>
          <p:cNvPr id="6" name="Text 4"/>
          <p:cNvSpPr/>
          <p:nvPr/>
        </p:nvSpPr>
        <p:spPr>
          <a:xfrm>
            <a:off x="822960" y="2423160"/>
            <a:ext cx="2971800" cy="457200"/>
          </a:xfrm>
          <a:prstGeom prst="rect">
            <a:avLst/>
          </a:prstGeom>
          <a:noFill/>
          <a:ln/>
        </p:spPr>
        <p:txBody>
          <a:bodyPr wrap="square" rtlCol="0" anchor="ctr"/>
          <a:lstStyle/>
          <a:p>
            <a:pPr indent="0" marL="0">
              <a:buNone/>
            </a:pPr>
            <a:r>
              <a:rPr lang="en-US" sz="1600" b="1" dirty="0">
                <a:solidFill>
                  <a:srgbClr val="185FA5"/>
                </a:solidFill>
                <a:latin typeface="Courier New" pitchFamily="34" charset="0"/>
                <a:ea typeface="Courier New" pitchFamily="34" charset="-122"/>
                <a:cs typeface="Courier New" pitchFamily="34" charset="-120"/>
              </a:rPr>
              <a:t>0.95</a:t>
            </a:r>
            <a:endParaRPr lang="en-US" sz="1600" dirty="0"/>
          </a:p>
        </p:txBody>
      </p:sp>
      <p:sp>
        <p:nvSpPr>
          <p:cNvPr id="7" name="Text 5"/>
          <p:cNvSpPr/>
          <p:nvPr/>
        </p:nvSpPr>
        <p:spPr>
          <a:xfrm>
            <a:off x="822960" y="3017520"/>
            <a:ext cx="2971800" cy="2560320"/>
          </a:xfrm>
          <a:prstGeom prst="rect">
            <a:avLst/>
          </a:prstGeom>
          <a:noFill/>
          <a:ln/>
        </p:spPr>
        <p:txBody>
          <a:bodyPr wrap="square" rtlCol="0" anchor="t"/>
          <a:lstStyle/>
          <a:p>
            <a:pPr indent="0" marL="0">
              <a:buNone/>
            </a:pPr>
            <a:r>
              <a:rPr lang="en-US" sz="1200" dirty="0">
                <a:solidFill>
                  <a:srgbClr val="2B2B3A"/>
                </a:solidFill>
                <a:latin typeface="Calibri" pitchFamily="34" charset="0"/>
                <a:ea typeface="Calibri" pitchFamily="34" charset="-122"/>
                <a:cs typeface="Calibri" pitchFamily="34" charset="-120"/>
              </a:rPr>
              <a:t>SBOM-sourced input → deterministic parsing → high confidence, auto-actioned.</a:t>
            </a:r>
            <a:endParaRPr lang="en-US" sz="1200" dirty="0"/>
          </a:p>
        </p:txBody>
      </p:sp>
      <p:sp>
        <p:nvSpPr>
          <p:cNvPr id="8" name="Shape 6"/>
          <p:cNvSpPr/>
          <p:nvPr/>
        </p:nvSpPr>
        <p:spPr>
          <a:xfrm>
            <a:off x="4325112" y="1645920"/>
            <a:ext cx="3520440" cy="4114800"/>
          </a:xfrm>
          <a:prstGeom prst="roundRect">
            <a:avLst>
              <a:gd name="adj" fmla="val 2597"/>
            </a:avLst>
          </a:prstGeom>
          <a:solidFill>
            <a:srgbClr val="F4F6FC"/>
          </a:solidFill>
          <a:ln w="12700">
            <a:solidFill>
              <a:srgbClr val="0F6E56"/>
            </a:solidFill>
            <a:prstDash val="solid"/>
          </a:ln>
        </p:spPr>
      </p:sp>
      <p:sp>
        <p:nvSpPr>
          <p:cNvPr id="9" name="Text 7"/>
          <p:cNvSpPr/>
          <p:nvPr/>
        </p:nvSpPr>
        <p:spPr>
          <a:xfrm>
            <a:off x="4599432" y="1920240"/>
            <a:ext cx="2971800" cy="457200"/>
          </a:xfrm>
          <a:prstGeom prst="rect">
            <a:avLst/>
          </a:prstGeom>
          <a:noFill/>
          <a:ln/>
        </p:spPr>
        <p:txBody>
          <a:bodyPr wrap="square"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Explainability</a:t>
            </a:r>
            <a:endParaRPr lang="en-US" sz="1600" dirty="0"/>
          </a:p>
        </p:txBody>
      </p:sp>
      <p:sp>
        <p:nvSpPr>
          <p:cNvPr id="10" name="Text 8"/>
          <p:cNvSpPr/>
          <p:nvPr/>
        </p:nvSpPr>
        <p:spPr>
          <a:xfrm>
            <a:off x="4599432" y="2423160"/>
            <a:ext cx="2971800" cy="457200"/>
          </a:xfrm>
          <a:prstGeom prst="rect">
            <a:avLst/>
          </a:prstGeom>
          <a:noFill/>
          <a:ln/>
        </p:spPr>
        <p:txBody>
          <a:bodyPr wrap="square" rtlCol="0" anchor="ctr"/>
          <a:lstStyle/>
          <a:p>
            <a:pPr indent="0" marL="0">
              <a:buNone/>
            </a:pPr>
            <a:r>
              <a:rPr lang="en-US" sz="1600" b="1" dirty="0">
                <a:solidFill>
                  <a:srgbClr val="0F6E56"/>
                </a:solidFill>
                <a:latin typeface="Courier New" pitchFamily="34" charset="0"/>
                <a:ea typeface="Courier New" pitchFamily="34" charset="-122"/>
                <a:cs typeface="Courier New" pitchFamily="34" charset="-120"/>
              </a:rPr>
              <a:t>match_reason</a:t>
            </a:r>
            <a:endParaRPr lang="en-US" sz="1600" dirty="0"/>
          </a:p>
        </p:txBody>
      </p:sp>
      <p:sp>
        <p:nvSpPr>
          <p:cNvPr id="11" name="Text 9"/>
          <p:cNvSpPr/>
          <p:nvPr/>
        </p:nvSpPr>
        <p:spPr>
          <a:xfrm>
            <a:off x="4599432" y="3017520"/>
            <a:ext cx="2971800" cy="2560320"/>
          </a:xfrm>
          <a:prstGeom prst="rect">
            <a:avLst/>
          </a:prstGeom>
          <a:noFill/>
          <a:ln/>
        </p:spPr>
        <p:txBody>
          <a:bodyPr wrap="square" rtlCol="0" anchor="t"/>
          <a:lstStyle/>
          <a:p>
            <a:pPr indent="0" marL="0">
              <a:buNone/>
            </a:pPr>
            <a:r>
              <a:rPr lang="en-US" sz="1200" dirty="0">
                <a:solidFill>
                  <a:srgbClr val="2B2B3A"/>
                </a:solidFill>
                <a:latin typeface="Calibri" pitchFamily="34" charset="0"/>
                <a:ea typeface="Calibri" pitchFamily="34" charset="-122"/>
                <a:cs typeface="Calibri" pitchFamily="34" charset="-120"/>
              </a:rPr>
              <a:t>"product 'log4j' matched CPE product 'log4j', version '2.14.1' matched CPE version '2.14.1'"</a:t>
            </a:r>
            <a:endParaRPr lang="en-US" sz="1200" dirty="0"/>
          </a:p>
        </p:txBody>
      </p:sp>
      <p:sp>
        <p:nvSpPr>
          <p:cNvPr id="12" name="Shape 10"/>
          <p:cNvSpPr/>
          <p:nvPr/>
        </p:nvSpPr>
        <p:spPr>
          <a:xfrm>
            <a:off x="8101584" y="1645920"/>
            <a:ext cx="3520440" cy="4114800"/>
          </a:xfrm>
          <a:prstGeom prst="roundRect">
            <a:avLst>
              <a:gd name="adj" fmla="val 2597"/>
            </a:avLst>
          </a:prstGeom>
          <a:solidFill>
            <a:srgbClr val="F4F6FC"/>
          </a:solidFill>
          <a:ln w="12700">
            <a:solidFill>
              <a:srgbClr val="993C1D"/>
            </a:solidFill>
            <a:prstDash val="solid"/>
          </a:ln>
        </p:spPr>
      </p:sp>
      <p:sp>
        <p:nvSpPr>
          <p:cNvPr id="13" name="Text 11"/>
          <p:cNvSpPr/>
          <p:nvPr/>
        </p:nvSpPr>
        <p:spPr>
          <a:xfrm>
            <a:off x="8375904" y="1920240"/>
            <a:ext cx="2971800" cy="457200"/>
          </a:xfrm>
          <a:prstGeom prst="rect">
            <a:avLst/>
          </a:prstGeom>
          <a:noFill/>
          <a:ln/>
        </p:spPr>
        <p:txBody>
          <a:bodyPr wrap="square"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Bias audit</a:t>
            </a:r>
            <a:endParaRPr lang="en-US" sz="1600" dirty="0"/>
          </a:p>
        </p:txBody>
      </p:sp>
      <p:sp>
        <p:nvSpPr>
          <p:cNvPr id="14" name="Text 12"/>
          <p:cNvSpPr/>
          <p:nvPr/>
        </p:nvSpPr>
        <p:spPr>
          <a:xfrm>
            <a:off x="8375904" y="2423160"/>
            <a:ext cx="2971800" cy="457200"/>
          </a:xfrm>
          <a:prstGeom prst="rect">
            <a:avLst/>
          </a:prstGeom>
          <a:noFill/>
          <a:ln/>
        </p:spPr>
        <p:txBody>
          <a:bodyPr wrap="square" rtlCol="0" anchor="ctr"/>
          <a:lstStyle/>
          <a:p>
            <a:pPr indent="0" marL="0">
              <a:buNone/>
            </a:pPr>
            <a:r>
              <a:rPr lang="en-US" sz="1600" b="1" dirty="0">
                <a:solidFill>
                  <a:srgbClr val="993C1D"/>
                </a:solidFill>
                <a:latin typeface="Courier New" pitchFamily="34" charset="0"/>
                <a:ea typeface="Courier New" pitchFamily="34" charset="-122"/>
                <a:cs typeface="Courier New" pitchFamily="34" charset="-120"/>
              </a:rPr>
              <a:t>Gini 0.897</a:t>
            </a:r>
            <a:endParaRPr lang="en-US" sz="1600" dirty="0"/>
          </a:p>
        </p:txBody>
      </p:sp>
      <p:sp>
        <p:nvSpPr>
          <p:cNvPr id="15" name="Text 13"/>
          <p:cNvSpPr/>
          <p:nvPr/>
        </p:nvSpPr>
        <p:spPr>
          <a:xfrm>
            <a:off x="8375904" y="3017520"/>
            <a:ext cx="2971800" cy="2560320"/>
          </a:xfrm>
          <a:prstGeom prst="rect">
            <a:avLst/>
          </a:prstGeom>
          <a:noFill/>
          <a:ln/>
        </p:spPr>
        <p:txBody>
          <a:bodyPr wrap="square" rtlCol="0" anchor="t"/>
          <a:lstStyle/>
          <a:p>
            <a:pPr indent="0" marL="0">
              <a:buNone/>
            </a:pPr>
            <a:r>
              <a:rPr lang="en-US" sz="1200" dirty="0">
                <a:solidFill>
                  <a:srgbClr val="2B2B3A"/>
                </a:solidFill>
                <a:latin typeface="Calibri" pitchFamily="34" charset="0"/>
                <a:ea typeface="Calibri" pitchFamily="34" charset="-122"/>
                <a:cs typeface="Calibri" pitchFamily="34" charset="-120"/>
              </a:rPr>
              <a:t>Apache is a well-covered vendor in NVD — this specific match is reliable; smaller vendors are not equally well-served.</a:t>
            </a:r>
            <a:endParaRPr lang="en-US" sz="1200" dirty="0"/>
          </a:p>
        </p:txBody>
      </p:sp>
      <p:sp>
        <p:nvSpPr>
          <p:cNvPr id="16" name="Text 14"/>
          <p:cNvSpPr/>
          <p:nvPr/>
        </p:nvSpPr>
        <p:spPr>
          <a:xfrm>
            <a:off x="548640" y="6537960"/>
            <a:ext cx="7315200" cy="274320"/>
          </a:xfrm>
          <a:prstGeom prst="rect">
            <a:avLst/>
          </a:prstGeom>
          <a:noFill/>
          <a:ln/>
        </p:spPr>
        <p:txBody>
          <a:bodyPr wrap="square" rtlCol="0" anchor="ctr"/>
          <a:lstStyle/>
          <a:p>
            <a:pPr indent="0" marL="0">
              <a:buNone/>
            </a:pPr>
            <a:r>
              <a:rPr lang="en-US" sz="900" dirty="0">
                <a:solidFill>
                  <a:srgbClr val="6E6E80"/>
                </a:solidFill>
                <a:latin typeface="Calibri" pitchFamily="34" charset="0"/>
                <a:ea typeface="Calibri" pitchFamily="34" charset="-122"/>
                <a:cs typeface="Calibri" pitchFamily="34" charset="-120"/>
              </a:rPr>
              <a:t>Extended IT Security Agent Architecture</a:t>
            </a:r>
            <a:endParaRPr lang="en-US" sz="900" dirty="0"/>
          </a:p>
        </p:txBody>
      </p:sp>
      <p:sp>
        <p:nvSpPr>
          <p:cNvPr id="17" name="Text 15"/>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E6E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rtlCol="0" anchor="ctr"/>
          <a:lstStyle/>
          <a:p>
            <a:pPr indent="0" marL="0">
              <a:buNone/>
            </a:pPr>
            <a:r>
              <a:rPr lang="en-US" sz="1200" b="1" spc="200" kern="0" dirty="0">
                <a:solidFill>
                  <a:srgbClr val="D85A30"/>
                </a:solidFill>
                <a:latin typeface="Calibri" pitchFamily="34" charset="0"/>
                <a:ea typeface="Calibri" pitchFamily="34" charset="-122"/>
                <a:cs typeface="Calibri" pitchFamily="34" charset="-120"/>
              </a:rPr>
              <a:t>STAGES H – I</a:t>
            </a:r>
            <a:endParaRPr lang="en-US" sz="1200" dirty="0"/>
          </a:p>
        </p:txBody>
      </p:sp>
      <p:sp>
        <p:nvSpPr>
          <p:cNvPr id="3" name="Text 1"/>
          <p:cNvSpPr/>
          <p:nvPr/>
        </p:nvSpPr>
        <p:spPr>
          <a:xfrm>
            <a:off x="548640" y="594360"/>
            <a:ext cx="10972800" cy="73152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Audit Log → Dashboard</a:t>
            </a:r>
            <a:endParaRPr lang="en-US" sz="2800" dirty="0"/>
          </a:p>
        </p:txBody>
      </p:sp>
      <p:sp>
        <p:nvSpPr>
          <p:cNvPr id="4" name="Shape 2"/>
          <p:cNvSpPr/>
          <p:nvPr/>
        </p:nvSpPr>
        <p:spPr>
          <a:xfrm>
            <a:off x="548640" y="1645920"/>
            <a:ext cx="5394960" cy="4114800"/>
          </a:xfrm>
          <a:prstGeom prst="roundRect">
            <a:avLst>
              <a:gd name="adj" fmla="val 2222"/>
            </a:avLst>
          </a:prstGeom>
          <a:solidFill>
            <a:srgbClr val="F4F6FC"/>
          </a:solidFill>
          <a:ln/>
        </p:spPr>
      </p:sp>
      <p:sp>
        <p:nvSpPr>
          <p:cNvPr id="5" name="Shape 3"/>
          <p:cNvSpPr/>
          <p:nvPr/>
        </p:nvSpPr>
        <p:spPr>
          <a:xfrm>
            <a:off x="822960" y="1920240"/>
            <a:ext cx="457200" cy="457200"/>
          </a:xfrm>
          <a:prstGeom prst="ellipse">
            <a:avLst/>
          </a:prstGeom>
          <a:solidFill>
            <a:srgbClr val="0C447C"/>
          </a:solidFill>
          <a:ln/>
        </p:spPr>
      </p:sp>
      <p:sp>
        <p:nvSpPr>
          <p:cNvPr id="6" name="Text 4"/>
          <p:cNvSpPr/>
          <p:nvPr/>
        </p:nvSpPr>
        <p:spPr>
          <a:xfrm>
            <a:off x="822960" y="192024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a:t>
            </a:r>
            <a:endParaRPr lang="en-US" sz="1600" dirty="0"/>
          </a:p>
        </p:txBody>
      </p:sp>
      <p:sp>
        <p:nvSpPr>
          <p:cNvPr id="7" name="Text 5"/>
          <p:cNvSpPr/>
          <p:nvPr/>
        </p:nvSpPr>
        <p:spPr>
          <a:xfrm>
            <a:off x="1463040" y="1920240"/>
            <a:ext cx="4114800" cy="457200"/>
          </a:xfrm>
          <a:prstGeom prst="rect">
            <a:avLst/>
          </a:prstGeom>
          <a:noFill/>
          <a:ln/>
        </p:spPr>
        <p:txBody>
          <a:bodyPr wrap="square"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Audit Log Entry</a:t>
            </a:r>
            <a:endParaRPr lang="en-US" sz="1600" dirty="0"/>
          </a:p>
        </p:txBody>
      </p:sp>
      <p:sp>
        <p:nvSpPr>
          <p:cNvPr id="8" name="Text 6"/>
          <p:cNvSpPr/>
          <p:nvPr/>
        </p:nvSpPr>
        <p:spPr>
          <a:xfrm>
            <a:off x="822960" y="2514600"/>
            <a:ext cx="4846320" cy="3017520"/>
          </a:xfrm>
          <a:prstGeom prst="rect">
            <a:avLst/>
          </a:prstGeom>
          <a:noFill/>
          <a:ln/>
        </p:spPr>
        <p:txBody>
          <a:bodyPr wrap="square" rtlCol="0" anchor="t"/>
          <a:lstStyle/>
          <a:p>
            <a:pPr indent="0" marL="0">
              <a:buNone/>
            </a:pPr>
            <a:r>
              <a:rPr lang="en-US" sz="1150" dirty="0">
                <a:solidFill>
                  <a:srgbClr val="2B2B3A"/>
                </a:solidFill>
                <a:latin typeface="Courier New" pitchFamily="34" charset="0"/>
                <a:ea typeface="Courier New" pitchFamily="34" charset="-122"/>
                <a:cs typeface="Courier New" pitchFamily="34" charset="-120"/>
              </a:rPr>
              <a:t>timestamp: 2026-07-03T14:20:11Z
</a:t>
            </a:r>
            <a:endParaRPr lang="en-US" sz="1150" dirty="0"/>
          </a:p>
          <a:p>
            <a:pPr indent="0" marL="0">
              <a:buNone/>
            </a:pPr>
            <a:r>
              <a:rPr lang="en-US" sz="1150" dirty="0">
                <a:solidFill>
                  <a:srgbClr val="2B2B3A"/>
                </a:solidFill>
                <a:latin typeface="Courier New" pitchFamily="34" charset="0"/>
                <a:ea typeface="Courier New" pitchFamily="34" charset="-122"/>
                <a:cs typeface="Courier New" pitchFamily="34" charset="-120"/>
              </a:rPr>
              <a:t>input_hash: sha256:8f2a...
</a:t>
            </a:r>
            <a:endParaRPr lang="en-US" sz="1150" dirty="0"/>
          </a:p>
          <a:p>
            <a:pPr indent="0" marL="0">
              <a:buNone/>
            </a:pPr>
            <a:r>
              <a:rPr lang="en-US" sz="1150" dirty="0">
                <a:solidFill>
                  <a:srgbClr val="2B2B3A"/>
                </a:solidFill>
                <a:latin typeface="Courier New" pitchFamily="34" charset="0"/>
                <a:ea typeface="Courier New" pitchFamily="34" charset="-122"/>
                <a:cs typeface="Courier New" pitchFamily="34" charset="-120"/>
              </a:rPr>
              <a:t>component: log4j-core 2.14.1
</a:t>
            </a:r>
            <a:endParaRPr lang="en-US" sz="1150" dirty="0"/>
          </a:p>
          <a:p>
            <a:pPr indent="0" marL="0">
              <a:buNone/>
            </a:pPr>
            <a:r>
              <a:rPr lang="en-US" sz="1150" dirty="0">
                <a:solidFill>
                  <a:srgbClr val="2B2B3A"/>
                </a:solidFill>
                <a:latin typeface="Courier New" pitchFamily="34" charset="0"/>
                <a:ea typeface="Courier New" pitchFamily="34" charset="-122"/>
                <a:cs typeface="Courier New" pitchFamily="34" charset="-120"/>
              </a:rPr>
              <a:t>cve_matched: CVE-2021-44228
</a:t>
            </a:r>
            <a:endParaRPr lang="en-US" sz="1150" dirty="0"/>
          </a:p>
          <a:p>
            <a:pPr indent="0" marL="0">
              <a:buNone/>
            </a:pPr>
            <a:r>
              <a:rPr lang="en-US" sz="1150" dirty="0">
                <a:solidFill>
                  <a:srgbClr val="2B2B3A"/>
                </a:solidFill>
                <a:latin typeface="Courier New" pitchFamily="34" charset="0"/>
                <a:ea typeface="Courier New" pitchFamily="34" charset="-122"/>
                <a:cs typeface="Courier New" pitchFamily="34" charset="-120"/>
              </a:rPr>
              <a:t>confidence: 0.95
</a:t>
            </a:r>
            <a:endParaRPr lang="en-US" sz="1150" dirty="0"/>
          </a:p>
          <a:p>
            <a:pPr indent="0" marL="0">
              <a:buNone/>
            </a:pPr>
            <a:r>
              <a:rPr lang="en-US" sz="1150" dirty="0">
                <a:solidFill>
                  <a:srgbClr val="2B2B3A"/>
                </a:solidFill>
                <a:latin typeface="Courier New" pitchFamily="34" charset="0"/>
                <a:ea typeface="Courier New" pitchFamily="34" charset="-122"/>
                <a:cs typeface="Courier New" pitchFamily="34" charset="-120"/>
              </a:rPr>
              <a:t>model_version: agent-v2.1</a:t>
            </a:r>
            <a:endParaRPr lang="en-US" sz="1150" dirty="0"/>
          </a:p>
        </p:txBody>
      </p:sp>
      <p:sp>
        <p:nvSpPr>
          <p:cNvPr id="9" name="Shape 7"/>
          <p:cNvSpPr/>
          <p:nvPr/>
        </p:nvSpPr>
        <p:spPr>
          <a:xfrm>
            <a:off x="6126480" y="1645920"/>
            <a:ext cx="5513832" cy="4114800"/>
          </a:xfrm>
          <a:prstGeom prst="roundRect">
            <a:avLst>
              <a:gd name="adj" fmla="val 2222"/>
            </a:avLst>
          </a:prstGeom>
          <a:solidFill>
            <a:srgbClr val="1E2761"/>
          </a:solidFill>
          <a:ln/>
        </p:spPr>
      </p:sp>
      <p:sp>
        <p:nvSpPr>
          <p:cNvPr id="10" name="Shape 8"/>
          <p:cNvSpPr/>
          <p:nvPr/>
        </p:nvSpPr>
        <p:spPr>
          <a:xfrm>
            <a:off x="6400800" y="1920240"/>
            <a:ext cx="457200" cy="457200"/>
          </a:xfrm>
          <a:prstGeom prst="ellipse">
            <a:avLst/>
          </a:prstGeom>
          <a:solidFill>
            <a:srgbClr val="27500A"/>
          </a:solidFill>
          <a:ln/>
        </p:spPr>
      </p:sp>
      <p:sp>
        <p:nvSpPr>
          <p:cNvPr id="11" name="Text 9"/>
          <p:cNvSpPr/>
          <p:nvPr/>
        </p:nvSpPr>
        <p:spPr>
          <a:xfrm>
            <a:off x="6400800" y="192024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a:t>
            </a:r>
            <a:endParaRPr lang="en-US" sz="1600" dirty="0"/>
          </a:p>
        </p:txBody>
      </p:sp>
      <p:sp>
        <p:nvSpPr>
          <p:cNvPr id="12" name="Text 10"/>
          <p:cNvSpPr/>
          <p:nvPr/>
        </p:nvSpPr>
        <p:spPr>
          <a:xfrm>
            <a:off x="7040880" y="1920240"/>
            <a:ext cx="4114800" cy="45720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Dashboard Summary</a:t>
            </a:r>
            <a:endParaRPr lang="en-US" sz="1600" dirty="0"/>
          </a:p>
        </p:txBody>
      </p:sp>
      <p:sp>
        <p:nvSpPr>
          <p:cNvPr id="13" name="Text 11"/>
          <p:cNvSpPr/>
          <p:nvPr/>
        </p:nvSpPr>
        <p:spPr>
          <a:xfrm>
            <a:off x="6400800" y="2514600"/>
            <a:ext cx="4937760" cy="3017520"/>
          </a:xfrm>
          <a:prstGeom prst="rect">
            <a:avLst/>
          </a:prstGeom>
          <a:noFill/>
          <a:ln/>
        </p:spPr>
        <p:txBody>
          <a:bodyPr wrap="square" rtlCol="0" anchor="t"/>
          <a:lstStyle/>
          <a:p>
            <a:pPr indent="0" marL="0">
              <a:buNone/>
            </a:pPr>
            <a:r>
              <a:rPr lang="en-US" sz="1500" b="1" dirty="0">
                <a:solidFill>
                  <a:srgbClr val="F09595"/>
                </a:solidFill>
                <a:latin typeface="Calibri" pitchFamily="34" charset="0"/>
                <a:ea typeface="Calibri" pitchFamily="34" charset="-122"/>
                <a:cs typeface="Calibri" pitchFamily="34" charset="-120"/>
              </a:rPr>
              <a:t>1 CRITICAL finding
</a:t>
            </a:r>
            <a:endParaRPr lang="en-US" sz="1500" dirty="0"/>
          </a:p>
          <a:p>
            <a:pPr indent="0" marL="0">
              <a:buNone/>
            </a:pPr>
            <a:r>
              <a:rPr lang="en-US" sz="1300" dirty="0">
                <a:solidFill>
                  <a:srgbClr val="CADCFC"/>
                </a:solidFill>
                <a:latin typeface="Calibri" pitchFamily="34" charset="0"/>
                <a:ea typeface="Calibri" pitchFamily="34" charset="-122"/>
                <a:cs typeface="Calibri" pitchFamily="34" charset="-120"/>
              </a:rPr>
              <a:t>CVE-2021-44228 — Log4Shell
</a:t>
            </a:r>
            <a:endParaRPr lang="en-US" sz="1500" dirty="0"/>
          </a:p>
          <a:p>
            <a:pPr indent="0" marL="0">
              <a:buNone/>
            </a:pPr>
            <a:r>
              <a:rPr lang="en-US" sz="1300" dirty="0">
                <a:solidFill>
                  <a:srgbClr val="CADCFC"/>
                </a:solidFill>
                <a:latin typeface="Calibri" pitchFamily="34" charset="0"/>
                <a:ea typeface="Calibri" pitchFamily="34" charset="-122"/>
                <a:cs typeface="Calibri" pitchFamily="34" charset="-120"/>
              </a:rPr>
              <a:t>On KEV list · EPSS 94th pct · confidence 0.95
</a:t>
            </a:r>
            <a:endParaRPr lang="en-US" sz="1500" dirty="0"/>
          </a:p>
          <a:p>
            <a:pPr indent="0" marL="0">
              <a:buNone/>
            </a:pPr>
            <a:r>
              <a:rPr lang="en-US" sz="1300" i="1" dirty="0">
                <a:solidFill>
                  <a:srgbClr val="CADCFC"/>
                </a:solidFill>
                <a:latin typeface="Calibri" pitchFamily="34" charset="0"/>
                <a:ea typeface="Calibri" pitchFamily="34" charset="-122"/>
                <a:cs typeface="Calibri" pitchFamily="34" charset="-120"/>
              </a:rPr>
              <a:t>Recommendation: patch immediately</a:t>
            </a:r>
            <a:endParaRPr lang="en-US" sz="1500" dirty="0"/>
          </a:p>
        </p:txBody>
      </p:sp>
      <p:sp>
        <p:nvSpPr>
          <p:cNvPr id="14" name="Text 12"/>
          <p:cNvSpPr/>
          <p:nvPr/>
        </p:nvSpPr>
        <p:spPr>
          <a:xfrm>
            <a:off x="548640" y="6537960"/>
            <a:ext cx="7315200" cy="274320"/>
          </a:xfrm>
          <a:prstGeom prst="rect">
            <a:avLst/>
          </a:prstGeom>
          <a:noFill/>
          <a:ln/>
        </p:spPr>
        <p:txBody>
          <a:bodyPr wrap="square" rtlCol="0" anchor="ctr"/>
          <a:lstStyle/>
          <a:p>
            <a:pPr indent="0" marL="0">
              <a:buNone/>
            </a:pPr>
            <a:r>
              <a:rPr lang="en-US" sz="900" dirty="0">
                <a:solidFill>
                  <a:srgbClr val="6E6E80"/>
                </a:solidFill>
                <a:latin typeface="Calibri" pitchFamily="34" charset="0"/>
                <a:ea typeface="Calibri" pitchFamily="34" charset="-122"/>
                <a:cs typeface="Calibri" pitchFamily="34" charset="-120"/>
              </a:rPr>
              <a:t>Extended IT Security Agent Architecture</a:t>
            </a:r>
            <a:endParaRPr lang="en-US" sz="900" dirty="0"/>
          </a:p>
        </p:txBody>
      </p:sp>
      <p:sp>
        <p:nvSpPr>
          <p:cNvPr id="15" name="Text 13"/>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E6E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502920"/>
            <a:ext cx="91440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Where We Stand</a:t>
            </a:r>
            <a:endParaRPr lang="en-US" sz="3000" dirty="0"/>
          </a:p>
        </p:txBody>
      </p:sp>
      <p:sp>
        <p:nvSpPr>
          <p:cNvPr id="3" name="Shape 1"/>
          <p:cNvSpPr/>
          <p:nvPr/>
        </p:nvSpPr>
        <p:spPr>
          <a:xfrm>
            <a:off x="640080" y="1472184"/>
            <a:ext cx="146304" cy="146304"/>
          </a:xfrm>
          <a:prstGeom prst="ellipse">
            <a:avLst/>
          </a:prstGeom>
          <a:solidFill>
            <a:srgbClr val="FAC775"/>
          </a:solidFill>
          <a:ln/>
        </p:spPr>
      </p:sp>
      <p:sp>
        <p:nvSpPr>
          <p:cNvPr id="4" name="Text 2"/>
          <p:cNvSpPr/>
          <p:nvPr/>
        </p:nvSpPr>
        <p:spPr>
          <a:xfrm>
            <a:off x="960120" y="1371600"/>
            <a:ext cx="301752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Input</a:t>
            </a:r>
            <a:endParaRPr lang="en-US" sz="1300" dirty="0"/>
          </a:p>
        </p:txBody>
      </p:sp>
      <p:sp>
        <p:nvSpPr>
          <p:cNvPr id="5" name="Text 3"/>
          <p:cNvSpPr/>
          <p:nvPr/>
        </p:nvSpPr>
        <p:spPr>
          <a:xfrm>
            <a:off x="4114800" y="1371600"/>
            <a:ext cx="7498080" cy="36576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Partial — SBOM only</a:t>
            </a:r>
            <a:endParaRPr lang="en-US" sz="1250" dirty="0"/>
          </a:p>
        </p:txBody>
      </p:sp>
      <p:sp>
        <p:nvSpPr>
          <p:cNvPr id="6" name="Shape 4"/>
          <p:cNvSpPr/>
          <p:nvPr/>
        </p:nvSpPr>
        <p:spPr>
          <a:xfrm>
            <a:off x="640080" y="1892808"/>
            <a:ext cx="146304" cy="146304"/>
          </a:xfrm>
          <a:prstGeom prst="ellipse">
            <a:avLst/>
          </a:prstGeom>
          <a:solidFill>
            <a:srgbClr val="FAC775"/>
          </a:solidFill>
          <a:ln/>
        </p:spPr>
      </p:sp>
      <p:sp>
        <p:nvSpPr>
          <p:cNvPr id="7" name="Text 5"/>
          <p:cNvSpPr/>
          <p:nvPr/>
        </p:nvSpPr>
        <p:spPr>
          <a:xfrm>
            <a:off x="960120" y="1792224"/>
            <a:ext cx="301752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 Extraction</a:t>
            </a:r>
            <a:endParaRPr lang="en-US" sz="1300" dirty="0"/>
          </a:p>
        </p:txBody>
      </p:sp>
      <p:sp>
        <p:nvSpPr>
          <p:cNvPr id="8" name="Text 6"/>
          <p:cNvSpPr/>
          <p:nvPr/>
        </p:nvSpPr>
        <p:spPr>
          <a:xfrm>
            <a:off x="4114800" y="1792224"/>
            <a:ext cx="7498080" cy="36576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Partial — SBOM only</a:t>
            </a:r>
            <a:endParaRPr lang="en-US" sz="1250" dirty="0"/>
          </a:p>
        </p:txBody>
      </p:sp>
      <p:sp>
        <p:nvSpPr>
          <p:cNvPr id="9" name="Shape 7"/>
          <p:cNvSpPr/>
          <p:nvPr/>
        </p:nvSpPr>
        <p:spPr>
          <a:xfrm>
            <a:off x="640080" y="2313432"/>
            <a:ext cx="146304" cy="146304"/>
          </a:xfrm>
          <a:prstGeom prst="ellipse">
            <a:avLst/>
          </a:prstGeom>
          <a:solidFill>
            <a:srgbClr val="97C459"/>
          </a:solidFill>
          <a:ln/>
        </p:spPr>
      </p:sp>
      <p:sp>
        <p:nvSpPr>
          <p:cNvPr id="10" name="Text 8"/>
          <p:cNvSpPr/>
          <p:nvPr/>
        </p:nvSpPr>
        <p:spPr>
          <a:xfrm>
            <a:off x="960120" y="2212848"/>
            <a:ext cx="301752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 Matching</a:t>
            </a:r>
            <a:endParaRPr lang="en-US" sz="1300" dirty="0"/>
          </a:p>
        </p:txBody>
      </p:sp>
      <p:sp>
        <p:nvSpPr>
          <p:cNvPr id="11" name="Text 9"/>
          <p:cNvSpPr/>
          <p:nvPr/>
        </p:nvSpPr>
        <p:spPr>
          <a:xfrm>
            <a:off x="4114800" y="2212848"/>
            <a:ext cx="7498080" cy="36576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Built — CPE + version-range</a:t>
            </a:r>
            <a:endParaRPr lang="en-US" sz="1250" dirty="0"/>
          </a:p>
        </p:txBody>
      </p:sp>
      <p:sp>
        <p:nvSpPr>
          <p:cNvPr id="12" name="Shape 10"/>
          <p:cNvSpPr/>
          <p:nvPr/>
        </p:nvSpPr>
        <p:spPr>
          <a:xfrm>
            <a:off x="640080" y="2734056"/>
            <a:ext cx="146304" cy="146304"/>
          </a:xfrm>
          <a:prstGeom prst="ellipse">
            <a:avLst/>
          </a:prstGeom>
          <a:solidFill>
            <a:srgbClr val="97C459"/>
          </a:solidFill>
          <a:ln/>
        </p:spPr>
      </p:sp>
      <p:sp>
        <p:nvSpPr>
          <p:cNvPr id="13" name="Text 11"/>
          <p:cNvSpPr/>
          <p:nvPr/>
        </p:nvSpPr>
        <p:spPr>
          <a:xfrm>
            <a:off x="960120" y="2633472"/>
            <a:ext cx="301752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 NVD Retrieval</a:t>
            </a:r>
            <a:endParaRPr lang="en-US" sz="1300" dirty="0"/>
          </a:p>
        </p:txBody>
      </p:sp>
      <p:sp>
        <p:nvSpPr>
          <p:cNvPr id="14" name="Text 12"/>
          <p:cNvSpPr/>
          <p:nvPr/>
        </p:nvSpPr>
        <p:spPr>
          <a:xfrm>
            <a:off x="4114800" y="2633472"/>
            <a:ext cx="7498080" cy="36576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Built for CVE/CVSS; CWE not yet extracted</a:t>
            </a:r>
            <a:endParaRPr lang="en-US" sz="1250" dirty="0"/>
          </a:p>
        </p:txBody>
      </p:sp>
      <p:sp>
        <p:nvSpPr>
          <p:cNvPr id="15" name="Shape 13"/>
          <p:cNvSpPr/>
          <p:nvPr/>
        </p:nvSpPr>
        <p:spPr>
          <a:xfrm>
            <a:off x="640080" y="3154680"/>
            <a:ext cx="146304" cy="146304"/>
          </a:xfrm>
          <a:prstGeom prst="ellipse">
            <a:avLst/>
          </a:prstGeom>
          <a:solidFill>
            <a:srgbClr val="F09595"/>
          </a:solidFill>
          <a:ln/>
        </p:spPr>
      </p:sp>
      <p:sp>
        <p:nvSpPr>
          <p:cNvPr id="16" name="Text 14"/>
          <p:cNvSpPr/>
          <p:nvPr/>
        </p:nvSpPr>
        <p:spPr>
          <a:xfrm>
            <a:off x="960120" y="3054096"/>
            <a:ext cx="301752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 Threat Intelligence</a:t>
            </a:r>
            <a:endParaRPr lang="en-US" sz="1300" dirty="0"/>
          </a:p>
        </p:txBody>
      </p:sp>
      <p:sp>
        <p:nvSpPr>
          <p:cNvPr id="17" name="Text 15"/>
          <p:cNvSpPr/>
          <p:nvPr/>
        </p:nvSpPr>
        <p:spPr>
          <a:xfrm>
            <a:off x="4114800" y="3054096"/>
            <a:ext cx="7498080" cy="36576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Not started — biggest gap, highest value next step</a:t>
            </a:r>
            <a:endParaRPr lang="en-US" sz="1250" dirty="0"/>
          </a:p>
        </p:txBody>
      </p:sp>
      <p:sp>
        <p:nvSpPr>
          <p:cNvPr id="18" name="Shape 16"/>
          <p:cNvSpPr/>
          <p:nvPr/>
        </p:nvSpPr>
        <p:spPr>
          <a:xfrm>
            <a:off x="640080" y="3575304"/>
            <a:ext cx="146304" cy="146304"/>
          </a:xfrm>
          <a:prstGeom prst="ellipse">
            <a:avLst/>
          </a:prstGeom>
          <a:solidFill>
            <a:srgbClr val="F09595"/>
          </a:solidFill>
          <a:ln/>
        </p:spPr>
      </p:sp>
      <p:sp>
        <p:nvSpPr>
          <p:cNvPr id="19" name="Text 17"/>
          <p:cNvSpPr/>
          <p:nvPr/>
        </p:nvSpPr>
        <p:spPr>
          <a:xfrm>
            <a:off x="960120" y="3474720"/>
            <a:ext cx="301752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 LLM Reasoning</a:t>
            </a:r>
            <a:endParaRPr lang="en-US" sz="1300" dirty="0"/>
          </a:p>
        </p:txBody>
      </p:sp>
      <p:sp>
        <p:nvSpPr>
          <p:cNvPr id="20" name="Text 18"/>
          <p:cNvSpPr/>
          <p:nvPr/>
        </p:nvSpPr>
        <p:spPr>
          <a:xfrm>
            <a:off x="4114800" y="3474720"/>
            <a:ext cx="7498080" cy="36576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Not started</a:t>
            </a:r>
            <a:endParaRPr lang="en-US" sz="1250" dirty="0"/>
          </a:p>
        </p:txBody>
      </p:sp>
      <p:sp>
        <p:nvSpPr>
          <p:cNvPr id="21" name="Shape 19"/>
          <p:cNvSpPr/>
          <p:nvPr/>
        </p:nvSpPr>
        <p:spPr>
          <a:xfrm>
            <a:off x="640080" y="3995928"/>
            <a:ext cx="146304" cy="146304"/>
          </a:xfrm>
          <a:prstGeom prst="ellipse">
            <a:avLst/>
          </a:prstGeom>
          <a:solidFill>
            <a:srgbClr val="FAC775"/>
          </a:solidFill>
          <a:ln/>
        </p:spPr>
      </p:sp>
      <p:sp>
        <p:nvSpPr>
          <p:cNvPr id="22" name="Text 20"/>
          <p:cNvSpPr/>
          <p:nvPr/>
        </p:nvSpPr>
        <p:spPr>
          <a:xfrm>
            <a:off x="960120" y="3895344"/>
            <a:ext cx="301752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 Responsible AI</a:t>
            </a:r>
            <a:endParaRPr lang="en-US" sz="1300" dirty="0"/>
          </a:p>
        </p:txBody>
      </p:sp>
      <p:sp>
        <p:nvSpPr>
          <p:cNvPr id="23" name="Text 21"/>
          <p:cNvSpPr/>
          <p:nvPr/>
        </p:nvSpPr>
        <p:spPr>
          <a:xfrm>
            <a:off x="4114800" y="3895344"/>
            <a:ext cx="7498080" cy="36576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Partial — bias metric + explainability built; confidence scoring not yet</a:t>
            </a:r>
            <a:endParaRPr lang="en-US" sz="1250" dirty="0"/>
          </a:p>
        </p:txBody>
      </p:sp>
      <p:sp>
        <p:nvSpPr>
          <p:cNvPr id="24" name="Shape 22"/>
          <p:cNvSpPr/>
          <p:nvPr/>
        </p:nvSpPr>
        <p:spPr>
          <a:xfrm>
            <a:off x="640080" y="4416552"/>
            <a:ext cx="146304" cy="146304"/>
          </a:xfrm>
          <a:prstGeom prst="ellipse">
            <a:avLst/>
          </a:prstGeom>
          <a:solidFill>
            <a:srgbClr val="F09595"/>
          </a:solidFill>
          <a:ln/>
        </p:spPr>
      </p:sp>
      <p:sp>
        <p:nvSpPr>
          <p:cNvPr id="25" name="Text 23"/>
          <p:cNvSpPr/>
          <p:nvPr/>
        </p:nvSpPr>
        <p:spPr>
          <a:xfrm>
            <a:off x="960120" y="4315968"/>
            <a:ext cx="301752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 Audit Logs</a:t>
            </a:r>
            <a:endParaRPr lang="en-US" sz="1300" dirty="0"/>
          </a:p>
        </p:txBody>
      </p:sp>
      <p:sp>
        <p:nvSpPr>
          <p:cNvPr id="26" name="Text 24"/>
          <p:cNvSpPr/>
          <p:nvPr/>
        </p:nvSpPr>
        <p:spPr>
          <a:xfrm>
            <a:off x="4114800" y="4315968"/>
            <a:ext cx="7498080" cy="36576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Not started</a:t>
            </a:r>
            <a:endParaRPr lang="en-US" sz="1250" dirty="0"/>
          </a:p>
        </p:txBody>
      </p:sp>
      <p:sp>
        <p:nvSpPr>
          <p:cNvPr id="27" name="Shape 25"/>
          <p:cNvSpPr/>
          <p:nvPr/>
        </p:nvSpPr>
        <p:spPr>
          <a:xfrm>
            <a:off x="640080" y="4837176"/>
            <a:ext cx="146304" cy="146304"/>
          </a:xfrm>
          <a:prstGeom prst="ellipse">
            <a:avLst/>
          </a:prstGeom>
          <a:solidFill>
            <a:srgbClr val="FAC775"/>
          </a:solidFill>
          <a:ln/>
        </p:spPr>
      </p:sp>
      <p:sp>
        <p:nvSpPr>
          <p:cNvPr id="28" name="Text 26"/>
          <p:cNvSpPr/>
          <p:nvPr/>
        </p:nvSpPr>
        <p:spPr>
          <a:xfrm>
            <a:off x="960120" y="4736592"/>
            <a:ext cx="301752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 Dashboard</a:t>
            </a:r>
            <a:endParaRPr lang="en-US" sz="1300" dirty="0"/>
          </a:p>
        </p:txBody>
      </p:sp>
      <p:sp>
        <p:nvSpPr>
          <p:cNvPr id="29" name="Text 27"/>
          <p:cNvSpPr/>
          <p:nvPr/>
        </p:nvSpPr>
        <p:spPr>
          <a:xfrm>
            <a:off x="4114800" y="4736592"/>
            <a:ext cx="7498080" cy="36576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Partial — text report only</a:t>
            </a:r>
            <a:endParaRPr lang="en-US" sz="1250" dirty="0"/>
          </a:p>
        </p:txBody>
      </p:sp>
      <p:sp>
        <p:nvSpPr>
          <p:cNvPr id="30" name="Text 28"/>
          <p:cNvSpPr/>
          <p:nvPr/>
        </p:nvSpPr>
        <p:spPr>
          <a:xfrm>
            <a:off x="548640" y="6537960"/>
            <a:ext cx="7315200" cy="274320"/>
          </a:xfrm>
          <a:prstGeom prst="rect">
            <a:avLst/>
          </a:prstGeom>
          <a:noFill/>
          <a:ln/>
        </p:spPr>
        <p:txBody>
          <a:bodyPr wrap="square" rtlCol="0" anchor="ctr"/>
          <a:lstStyle/>
          <a:p>
            <a:pPr indent="0" marL="0">
              <a:buNone/>
            </a:pPr>
            <a:r>
              <a:rPr lang="en-US" sz="900" dirty="0">
                <a:solidFill>
                  <a:srgbClr val="6E6E80"/>
                </a:solidFill>
                <a:latin typeface="Calibri" pitchFamily="34" charset="0"/>
                <a:ea typeface="Calibri" pitchFamily="34" charset="-122"/>
                <a:cs typeface="Calibri" pitchFamily="34" charset="-120"/>
              </a:rPr>
              <a:t>Extended IT Security Agent Architecture</a:t>
            </a:r>
            <a:endParaRPr lang="en-US" sz="900" dirty="0"/>
          </a:p>
        </p:txBody>
      </p:sp>
      <p:sp>
        <p:nvSpPr>
          <p:cNvPr id="31" name="Text 29"/>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E6E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Extended Architecture with Threat Intelligence</dc:title>
  <dc:subject>PptxGenJS Presentation</dc:subject>
  <dc:creator>Team</dc:creator>
  <cp:lastModifiedBy>Team</cp:lastModifiedBy>
  <cp:revision>1</cp:revision>
  <dcterms:created xsi:type="dcterms:W3CDTF">2026-07-03T16:11:43Z</dcterms:created>
  <dcterms:modified xsi:type="dcterms:W3CDTF">2026-07-03T16:11:43Z</dcterms:modified>
</cp:coreProperties>
</file>