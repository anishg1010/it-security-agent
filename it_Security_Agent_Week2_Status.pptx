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2011680"/>
            <a:ext cx="164592" cy="2194560"/>
          </a:xfrm>
          <a:prstGeom prst="rect">
            <a:avLst/>
          </a:prstGeom>
          <a:solidFill>
            <a:srgbClr val="A8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144000" cy="10972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WEEK 2 STATUS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00400"/>
            <a:ext cx="91440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600" b="0" i="0">
                <a:solidFill>
                  <a:srgbClr val="B5657F"/>
                </a:solidFill>
                <a:latin typeface="Calibri"/>
              </a:rPr>
              <a:t>IT Security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40480"/>
            <a:ext cx="932688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0" i="0">
                <a:solidFill>
                  <a:srgbClr val="9EADB5"/>
                </a:solidFill>
                <a:latin typeface="Calibri"/>
              </a:rPr>
              <a:t>Baseline model with confidence scoring, threat-intel prioritization, and a quantitative fairness audit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486400"/>
            <a:ext cx="9144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0" i="0">
                <a:solidFill>
                  <a:srgbClr val="9EADB5"/>
                </a:solidFill>
                <a:latin typeface="Calibri"/>
              </a:rPr>
              <a:t>Responsible AI &amp; Data Ethics  |  Simon Geschwill  |  SS2026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"/>
            <a:ext cx="12192000" cy="1234440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3108960" cy="762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49039" y="182880"/>
            <a:ext cx="3108960" cy="76200"/>
          </a:xfrm>
          <a:prstGeom prst="rect">
            <a:avLst/>
          </a:prstGeom>
          <a:solidFill>
            <a:srgbClr val="A8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0" y="182880"/>
            <a:ext cx="3108960" cy="76200"/>
          </a:xfrm>
          <a:prstGeom prst="rect">
            <a:avLst/>
          </a:prstGeom>
          <a:solidFill>
            <a:srgbClr val="9EA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B5657F"/>
                </a:solidFill>
                <a:latin typeface="Calibri"/>
              </a:rPr>
              <a:t>RECAP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49808"/>
            <a:ext cx="102412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Where We Stand After Week 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5029200" cy="4206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700" b="1" i="0">
                <a:solidFill>
                  <a:srgbClr val="5C1A33"/>
                </a:solidFill>
                <a:latin typeface="Calibri"/>
              </a:rPr>
              <a:t>Built in Week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14600"/>
            <a:ext cx="4663440" cy="3291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✓  Rule-based matcher (CPE + version-range)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✓  affected[] fallback matcher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✓  Real-data analysis (2000 NVD records)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✓  Regulatory read (AI Act / GDPR / NIS2)</a:t>
            </a:r>
          </a:p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✓  First risk register + Pseudo-Model Card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0" y="1828800"/>
            <a:ext cx="4937760" cy="4206240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011680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Week 2 goals (this deck)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560320"/>
            <a:ext cx="4572000" cy="3291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→  Turn matcher into an evaluable, confidence-scored baseline model</a:t>
            </a:r>
          </a:p>
          <a:p>
            <a:pPr algn="l">
              <a:spcAft>
                <a:spcPts val="1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→  Quantitative fairness analysis (per-vendor recall)</a:t>
            </a:r>
          </a:p>
          <a:p>
            <a:pPr algn="l">
              <a:spcAft>
                <a:spcPts val="1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→  Structured risk analysis with mitigations</a:t>
            </a:r>
          </a:p>
          <a:p>
            <a:pPr algn="l">
              <a:spcAft>
                <a:spcPts val="1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→  Add KEV / EPSS threat-intel prioritization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9EADB5"/>
                </a:solidFill>
                <a:latin typeface="Calibri"/>
              </a:rPr>
              <a:t>IT Security Agent — Responsible AI &amp; Data Ethics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2720" y="6446520"/>
            <a:ext cx="5486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900" b="0" i="0">
                <a:solidFill>
                  <a:srgbClr val="9EADB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"/>
            <a:ext cx="12192000" cy="1234440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3108960" cy="762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49039" y="182880"/>
            <a:ext cx="3108960" cy="76200"/>
          </a:xfrm>
          <a:prstGeom prst="rect">
            <a:avLst/>
          </a:prstGeom>
          <a:solidFill>
            <a:srgbClr val="A8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0" y="182880"/>
            <a:ext cx="3108960" cy="76200"/>
          </a:xfrm>
          <a:prstGeom prst="rect">
            <a:avLst/>
          </a:prstGeom>
          <a:solidFill>
            <a:srgbClr val="9EA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B5657F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49808"/>
            <a:ext cx="102412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Scalable Input Layer — Built for Every Input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0149840" cy="685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0" i="0">
                <a:solidFill>
                  <a:srgbClr val="2B2B2B"/>
                </a:solidFill>
                <a:latin typeface="Calibri"/>
              </a:rPr>
              <a:t>The brief calls for pictures of software OR SBOMs. All input types funnel through one module and emit one Component contract (name, version, vendor, source, confidence) — the matcher never knows where a component came from.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06040"/>
            <a:ext cx="2487168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06040"/>
            <a:ext cx="109728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715768"/>
            <a:ext cx="2212848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Calibri"/>
              </a:rPr>
              <a:t>CycloneDX SBOM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81528"/>
            <a:ext cx="2212848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E7D32"/>
                </a:solidFill>
                <a:latin typeface="Calibri"/>
              </a:rPr>
              <a:t>extraction confidence 1.00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35808" y="2606040"/>
            <a:ext cx="2487168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035808" y="2606040"/>
            <a:ext cx="109728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64408" y="2715768"/>
            <a:ext cx="2212848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Calibri"/>
              </a:rPr>
              <a:t>SPDX SBOM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3081528"/>
            <a:ext cx="2212848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E7D32"/>
                </a:solidFill>
                <a:latin typeface="Calibri"/>
              </a:rPr>
              <a:t>extraction confidence 1.00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68696" y="2606040"/>
            <a:ext cx="2487168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68696" y="2606040"/>
            <a:ext cx="109728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97296" y="2715768"/>
            <a:ext cx="2212848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Calibri"/>
              </a:rPr>
              <a:t>Simple JSON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3081528"/>
            <a:ext cx="2212848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E7D32"/>
                </a:solidFill>
                <a:latin typeface="Calibri"/>
              </a:rPr>
              <a:t>extraction confidence 1.00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1584" y="2606040"/>
            <a:ext cx="2487168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1584" y="2606040"/>
            <a:ext cx="109728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0184" y="2715768"/>
            <a:ext cx="2212848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Calibri"/>
              </a:rPr>
              <a:t>requirements.txt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184" y="3081528"/>
            <a:ext cx="2212848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E7D32"/>
                </a:solidFill>
                <a:latin typeface="Calibri"/>
              </a:rPr>
              <a:t>extraction confidence 0.90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657600"/>
            <a:ext cx="2487168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657600"/>
            <a:ext cx="109728" cy="91440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767328"/>
            <a:ext cx="2212848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Calibri"/>
              </a:rPr>
              <a:t>package.json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133088"/>
            <a:ext cx="2212848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E7D32"/>
                </a:solidFill>
                <a:latin typeface="Calibri"/>
              </a:rPr>
              <a:t>extraction confidence 0.85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35808" y="3657600"/>
            <a:ext cx="2487168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35808" y="3657600"/>
            <a:ext cx="109728" cy="914400"/>
          </a:xfrm>
          <a:prstGeom prst="rect">
            <a:avLst/>
          </a:prstGeom>
          <a:solidFill>
            <a:srgbClr val="9EA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64408" y="3767328"/>
            <a:ext cx="2212848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Calibri"/>
              </a:rPr>
              <a:t>Screenshot (OCR)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64408" y="4133088"/>
            <a:ext cx="2212848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9EADB5"/>
                </a:solidFill>
                <a:latin typeface="Calibri"/>
              </a:rPr>
              <a:t>extraction confidence 0.50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68696" y="3657600"/>
            <a:ext cx="2487168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68696" y="3657600"/>
            <a:ext cx="109728" cy="914400"/>
          </a:xfrm>
          <a:prstGeom prst="rect">
            <a:avLst/>
          </a:prstGeom>
          <a:solidFill>
            <a:srgbClr val="A8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97296" y="3767328"/>
            <a:ext cx="2212848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Calibri"/>
              </a:rPr>
              <a:t>Plain text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7296" y="4133088"/>
            <a:ext cx="2212848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A83A5B"/>
                </a:solidFill>
                <a:latin typeface="Calibri"/>
              </a:rPr>
              <a:t>extraction confidence 0.70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01584" y="3657600"/>
            <a:ext cx="2487168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01584" y="3657600"/>
            <a:ext cx="109728" cy="914400"/>
          </a:xfrm>
          <a:prstGeom prst="rect">
            <a:avLst/>
          </a:prstGeom>
          <a:solidFill>
            <a:srgbClr val="A8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0184" y="3767328"/>
            <a:ext cx="2212848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 i="0">
                <a:solidFill>
                  <a:srgbClr val="2B2B2B"/>
                </a:solidFill>
                <a:latin typeface="Calibri"/>
              </a:rPr>
              <a:t>Manual entry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0184" y="4133088"/>
            <a:ext cx="2212848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A83A5B"/>
                </a:solidFill>
                <a:latin typeface="Calibri"/>
              </a:rPr>
              <a:t>extraction confidence 0.80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806440"/>
            <a:ext cx="1014984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5C1A33"/>
                </a:solidFill>
                <a:latin typeface="Calibri"/>
              </a:rPr>
              <a:t>Provenance + confidence travel with every component → OCR-sourced matches are automatically routed to human review, never silently auto-actioned.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9EADB5"/>
                </a:solidFill>
                <a:latin typeface="Calibri"/>
              </a:rPr>
              <a:t>IT Security Agent — Responsible AI &amp; Data Ethics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20" y="6446520"/>
            <a:ext cx="5486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900" b="0" i="0">
                <a:solidFill>
                  <a:srgbClr val="9EADB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"/>
            <a:ext cx="12192000" cy="1234440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3108960" cy="762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49039" y="182880"/>
            <a:ext cx="3108960" cy="76200"/>
          </a:xfrm>
          <a:prstGeom prst="rect">
            <a:avLst/>
          </a:prstGeom>
          <a:solidFill>
            <a:srgbClr val="A8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0" y="182880"/>
            <a:ext cx="3108960" cy="76200"/>
          </a:xfrm>
          <a:prstGeom prst="rect">
            <a:avLst/>
          </a:prstGeom>
          <a:solidFill>
            <a:srgbClr val="9EA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B5657F"/>
                </a:solidFill>
                <a:latin typeface="Calibri"/>
              </a:rPr>
              <a:t>WEEK 2 · GOAL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49808"/>
            <a:ext cx="102412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Baseline Model: A Transparent Confidence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014984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0" i="0">
                <a:solidFill>
                  <a:srgbClr val="2B2B2B"/>
                </a:solidFill>
                <a:latin typeface="Calibri"/>
              </a:rPr>
              <a:t>A matcher fires yes/no. A model gives a score you can rank, threshold and evaluate. We add a glass-box confidence in [0,1] from four inspectable signals: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514600"/>
            <a:ext cx="2487168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514600"/>
            <a:ext cx="2487168" cy="4572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60320"/>
            <a:ext cx="2487168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Match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063240"/>
            <a:ext cx="2487168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Calibri"/>
              </a:rPr>
              <a:t>CPE+range stricter
than affected[] fallback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703320"/>
            <a:ext cx="2487168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1" i="0">
                <a:solidFill>
                  <a:srgbClr val="A83A5B"/>
                </a:solidFill>
                <a:latin typeface="Calibri"/>
              </a:rPr>
              <a:t>weight 0.40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35808" y="2514600"/>
            <a:ext cx="2487168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35808" y="2514600"/>
            <a:ext cx="2487168" cy="4572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35808" y="2560320"/>
            <a:ext cx="2487168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Version specificity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35808" y="3063240"/>
            <a:ext cx="2487168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Calibri"/>
              </a:rPr>
              <a:t>Exact pin &gt; bounded
range &gt; wildcard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35808" y="3703320"/>
            <a:ext cx="2487168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1" i="0">
                <a:solidFill>
                  <a:srgbClr val="A83A5B"/>
                </a:solidFill>
                <a:latin typeface="Calibri"/>
              </a:rPr>
              <a:t>weight 0.25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68696" y="2514600"/>
            <a:ext cx="2487168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68696" y="2514600"/>
            <a:ext cx="2487168" cy="4572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68696" y="2560320"/>
            <a:ext cx="2487168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Input source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68696" y="3063240"/>
            <a:ext cx="2487168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Calibri"/>
              </a:rPr>
              <a:t>SBOM parse beats
(future) OCR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8696" y="3703320"/>
            <a:ext cx="2487168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1" i="0">
                <a:solidFill>
                  <a:srgbClr val="A83A5B"/>
                </a:solidFill>
                <a:latin typeface="Calibri"/>
              </a:rPr>
              <a:t>weight 0.20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01584" y="2514600"/>
            <a:ext cx="2487168" cy="15544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4" y="2514600"/>
            <a:ext cx="2487168" cy="4572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01584" y="2560320"/>
            <a:ext cx="2487168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Vendor known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01584" y="3063240"/>
            <a:ext cx="2487168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100" b="0" i="0">
                <a:solidFill>
                  <a:srgbClr val="2B2B2B"/>
                </a:solidFill>
                <a:latin typeface="Calibri"/>
              </a:rPr>
              <a:t>Named vendor cuts
cross-product hits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1584" y="3703320"/>
            <a:ext cx="2487168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1" i="0">
                <a:solidFill>
                  <a:srgbClr val="A83A5B"/>
                </a:solidFill>
                <a:latin typeface="Calibri"/>
              </a:rPr>
              <a:t>weight 0.15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343400"/>
            <a:ext cx="10149840" cy="1417320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4480560"/>
            <a:ext cx="9601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Score → human-in-the-loop routing band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4937760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AUTO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303520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conf ≥ 0.75 · auto-report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40" y="4937760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B5657F"/>
                </a:solidFill>
                <a:latin typeface="Calibri"/>
              </a:rPr>
              <a:t>SUGGEST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7640" y="5303520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0.50–0.75 · human confirms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4937760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600" b="1" i="0">
                <a:solidFill>
                  <a:srgbClr val="9EADB5"/>
                </a:solidFill>
                <a:latin typeface="Calibri"/>
              </a:rPr>
              <a:t>FLAG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69480" y="5303520"/>
            <a:ext cx="3200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&lt; 0.50 · human must 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9EADB5"/>
                </a:solidFill>
                <a:latin typeface="Calibri"/>
              </a:rPr>
              <a:t>IT Security Agent — Responsible AI &amp; Data Ethics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20" y="6446520"/>
            <a:ext cx="5486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900" b="0" i="0">
                <a:solidFill>
                  <a:srgbClr val="9EADB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"/>
            <a:ext cx="12192000" cy="1234440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3108960" cy="762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49039" y="182880"/>
            <a:ext cx="3108960" cy="76200"/>
          </a:xfrm>
          <a:prstGeom prst="rect">
            <a:avLst/>
          </a:prstGeom>
          <a:solidFill>
            <a:srgbClr val="A8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0" y="182880"/>
            <a:ext cx="3108960" cy="76200"/>
          </a:xfrm>
          <a:prstGeom prst="rect">
            <a:avLst/>
          </a:prstGeom>
          <a:solidFill>
            <a:srgbClr val="9EA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B5657F"/>
                </a:solidFill>
                <a:latin typeface="Calibri"/>
              </a:rPr>
              <a:t>WEEK 2 · GOAL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49808"/>
            <a:ext cx="102412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Threat Intel: Severity ≠ Priority (KEV + EPSS)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1014984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0" i="0">
                <a:solidFill>
                  <a:srgbClr val="2B2B2B"/>
                </a:solidFill>
                <a:latin typeface="Calibri"/>
              </a:rPr>
              <a:t>CVSS says how bad a flaw is in theory. KEV + EPSS say whether it is actually being exploited. The agent now prioritizes by real-world risk.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560320"/>
            <a:ext cx="10149840" cy="50292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60604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CVSS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260604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On KEV?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0604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EPSS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606040"/>
            <a:ext cx="1828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Priority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154680"/>
            <a:ext cx="10149840" cy="502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29260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CVE-2021-44228 (Log4Shell)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218688"/>
            <a:ext cx="1371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10.0 CRITICAL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3218688"/>
            <a:ext cx="1371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YES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218688"/>
            <a:ext cx="16459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0.94 (94th pct)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218688"/>
            <a:ext cx="1371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0.98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03320"/>
            <a:ext cx="101498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67328"/>
            <a:ext cx="29260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CVE-2022-0778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767328"/>
            <a:ext cx="1371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7.5 HIGH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3767328"/>
            <a:ext cx="1371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3767328"/>
            <a:ext cx="164592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 i="0">
                <a:solidFill>
                  <a:srgbClr val="2B2B2B"/>
                </a:solidFill>
                <a:latin typeface="Calibri"/>
              </a:rPr>
              <a:t>0.31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767328"/>
            <a:ext cx="1371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A83A5B"/>
                </a:solidFill>
                <a:latin typeface="Calibri"/>
              </a:rPr>
              <a:t>0.57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754880"/>
            <a:ext cx="10149840" cy="1005840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892040"/>
            <a:ext cx="969264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Both are severe on CVSS — but the KEV-listed, EPSS-94th flaw is the one you patch tonight. A severity-only agent treats them as equal and burns responder time (alert fatigue → missed real threats).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9EADB5"/>
                </a:solidFill>
                <a:latin typeface="Calibri"/>
              </a:rPr>
              <a:t>IT Security Agent — Responsible AI &amp; Data Ethics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6446520"/>
            <a:ext cx="5486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900" b="0" i="0">
                <a:solidFill>
                  <a:srgbClr val="9EADB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"/>
            <a:ext cx="12192000" cy="1234440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3108960" cy="762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49039" y="182880"/>
            <a:ext cx="3108960" cy="76200"/>
          </a:xfrm>
          <a:prstGeom prst="rect">
            <a:avLst/>
          </a:prstGeom>
          <a:solidFill>
            <a:srgbClr val="A8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0" y="182880"/>
            <a:ext cx="3108960" cy="76200"/>
          </a:xfrm>
          <a:prstGeom prst="rect">
            <a:avLst/>
          </a:prstGeom>
          <a:solidFill>
            <a:srgbClr val="9EA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B5657F"/>
                </a:solidFill>
                <a:latin typeface="Calibri"/>
              </a:rPr>
              <a:t>WEEK 2 · GOAL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49808"/>
            <a:ext cx="102412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Fairness Audit: Does Detection Depend on the Vendor?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691640"/>
            <a:ext cx="1014984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0" i="0">
                <a:solidFill>
                  <a:srgbClr val="2B2B2B"/>
                </a:solidFill>
                <a:latin typeface="Calibri"/>
              </a:rPr>
              <a:t>Fairness metric = per-vendor recall (share of a vendor's CVEs the matcher can resolve). For a security tool, unfairness = a systematic false-negative blind spot for under-served vendors.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64592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Google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706624"/>
            <a:ext cx="6858000" cy="292608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2651760"/>
            <a:ext cx="146304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100% → 100%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90672"/>
            <a:ext cx="164592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Microsoft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3145536"/>
            <a:ext cx="6858000" cy="292608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3090672"/>
            <a:ext cx="146304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100% → 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29584"/>
            <a:ext cx="164592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Adobe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3584448"/>
            <a:ext cx="6789420" cy="292608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66860" y="3584448"/>
            <a:ext cx="68580" cy="292608"/>
          </a:xfrm>
          <a:prstGeom prst="rect">
            <a:avLst/>
          </a:prstGeom>
          <a:solidFill>
            <a:srgbClr val="B56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3529584"/>
            <a:ext cx="146304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99% → 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968496"/>
            <a:ext cx="164592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VMware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4023360"/>
            <a:ext cx="6858000" cy="292608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3968496"/>
            <a:ext cx="146304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100% → 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407408"/>
            <a:ext cx="164592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Spring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440" y="4462272"/>
            <a:ext cx="5280660" cy="292608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58100" y="4462272"/>
            <a:ext cx="1577340" cy="292608"/>
          </a:xfrm>
          <a:prstGeom prst="rect">
            <a:avLst/>
          </a:prstGeom>
          <a:solidFill>
            <a:srgbClr val="B56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4407408"/>
            <a:ext cx="146304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77% →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846320"/>
            <a:ext cx="164592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Red Hat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77440" y="4901184"/>
            <a:ext cx="4183380" cy="292608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60820" y="4901184"/>
            <a:ext cx="2674620" cy="292608"/>
          </a:xfrm>
          <a:prstGeom prst="rect">
            <a:avLst/>
          </a:prstGeom>
          <a:solidFill>
            <a:srgbClr val="B56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72600" y="4846320"/>
            <a:ext cx="146304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61% → 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285232"/>
            <a:ext cx="164592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1" i="0">
                <a:solidFill>
                  <a:srgbClr val="2B2B2B"/>
                </a:solidFill>
                <a:latin typeface="Calibri"/>
              </a:rPr>
              <a:t>Linux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377440" y="5340096"/>
            <a:ext cx="2331720" cy="292608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09160" y="5340096"/>
            <a:ext cx="4526280" cy="292608"/>
          </a:xfrm>
          <a:prstGeom prst="rect">
            <a:avLst/>
          </a:prstGeom>
          <a:solidFill>
            <a:srgbClr val="B56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72600" y="5285232"/>
            <a:ext cx="1463040" cy="36576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34% → 100%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77440" y="5806440"/>
            <a:ext cx="274320" cy="182880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97480" y="5742432"/>
            <a:ext cx="27432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CPE-only recall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37760" y="5806440"/>
            <a:ext cx="274320" cy="182880"/>
          </a:xfrm>
          <a:prstGeom prst="rect">
            <a:avLst/>
          </a:prstGeom>
          <a:solidFill>
            <a:srgbClr val="B565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57800" y="5742432"/>
            <a:ext cx="3657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recovered by affected[] fallback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9EADB5"/>
                </a:solidFill>
                <a:latin typeface="Calibri"/>
              </a:rPr>
              <a:t>IT Security Agent — Responsible AI &amp; Data Ethics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446520"/>
            <a:ext cx="5486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900" b="0" i="0">
                <a:solidFill>
                  <a:srgbClr val="9EADB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"/>
            <a:ext cx="12192000" cy="1234440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3108960" cy="762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49039" y="182880"/>
            <a:ext cx="3108960" cy="76200"/>
          </a:xfrm>
          <a:prstGeom prst="rect">
            <a:avLst/>
          </a:prstGeom>
          <a:solidFill>
            <a:srgbClr val="A8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0" y="182880"/>
            <a:ext cx="3108960" cy="76200"/>
          </a:xfrm>
          <a:prstGeom prst="rect">
            <a:avLst/>
          </a:prstGeom>
          <a:solidFill>
            <a:srgbClr val="9EA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B5657F"/>
                </a:solidFill>
                <a:latin typeface="Calibri"/>
              </a:rPr>
              <a:t>WEEK 2 · GOAL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49808"/>
            <a:ext cx="102412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Fairness Result: The Fallback Is an Equity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329184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3291840" cy="109728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240280"/>
            <a:ext cx="32918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4000" b="1" i="0">
                <a:solidFill>
                  <a:srgbClr val="5C1A33"/>
                </a:solidFill>
                <a:latin typeface="Calibri"/>
              </a:rPr>
              <a:t>66.0 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08960"/>
            <a:ext cx="329184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300" b="0" i="0">
                <a:solidFill>
                  <a:srgbClr val="2B2B2B"/>
                </a:solidFill>
                <a:latin typeface="Calibri"/>
              </a:rPr>
              <a:t>CPE-only recall spread
across named vendors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03320"/>
            <a:ext cx="32918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1" i="0">
                <a:solidFill>
                  <a:srgbClr val="5C1A33"/>
                </a:solidFill>
                <a:latin typeface="Calibri"/>
              </a:rPr>
              <a:t>the bias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0" y="1920240"/>
            <a:ext cx="329184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31920" y="1920240"/>
            <a:ext cx="3291840" cy="109728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31920" y="2240280"/>
            <a:ext cx="32918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4000" b="1" i="0">
                <a:solidFill>
                  <a:srgbClr val="2E7D32"/>
                </a:solidFill>
                <a:latin typeface="Calibri"/>
              </a:rPr>
              <a:t>0.0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3108960"/>
            <a:ext cx="329184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300" b="0" i="0">
                <a:solidFill>
                  <a:srgbClr val="2B2B2B"/>
                </a:solidFill>
                <a:latin typeface="Calibri"/>
              </a:rPr>
              <a:t>spread after adding the
affected[]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703320"/>
            <a:ext cx="32918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the fix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920" y="1920240"/>
            <a:ext cx="329184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60920" y="1920240"/>
            <a:ext cx="3291840" cy="109728"/>
          </a:xfrm>
          <a:prstGeom prst="rect">
            <a:avLst/>
          </a:prstGeom>
          <a:solidFill>
            <a:srgbClr val="9EA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0920" y="2240280"/>
            <a:ext cx="32918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4000" b="1" i="0">
                <a:solidFill>
                  <a:srgbClr val="9EADB5"/>
                </a:solidFill>
                <a:latin typeface="Calibri"/>
              </a:rPr>
              <a:t>0.753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108960"/>
            <a:ext cx="329184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300" b="0" i="0">
                <a:solidFill>
                  <a:srgbClr val="2B2B2B"/>
                </a:solidFill>
                <a:latin typeface="Calibri"/>
              </a:rPr>
              <a:t>vendor CVE-count Gini
(391 vendors)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3703320"/>
            <a:ext cx="32918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1" i="0">
                <a:solidFill>
                  <a:srgbClr val="9EADB5"/>
                </a:solidFill>
                <a:latin typeface="Calibri"/>
              </a:rPr>
              <a:t>residual: data skew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297680"/>
            <a:ext cx="10149840" cy="1554480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434840"/>
            <a:ext cx="9692640" cy="137160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Key insight: the Week 1 fallback was framed as a coverage patch. Measured as fairness, it collapses the per-vendor recall gap from 66 pp to ~0 — an equity fix.</a:t>
            </a:r>
          </a:p>
          <a:p>
            <a:pPr algn="l"/>
            <a:r>
              <a:rPr sz="1300" b="0" i="0">
                <a:solidFill>
                  <a:srgbClr val="9EADB5"/>
                </a:solidFill>
                <a:latin typeface="Calibri"/>
              </a:rPr>
              <a:t>Honest caveat: coverage is now fair, but data representation is not (Gini stays high, NVD content we can't change). And the fallback's per-vendor false-positive rate is not yet measured — the mitigation may not be free.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9EADB5"/>
                </a:solidFill>
                <a:latin typeface="Calibri"/>
              </a:rPr>
              <a:t>IT Security Agent — Responsible AI &amp; Data Ethics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6446520"/>
            <a:ext cx="5486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900" b="0" i="0">
                <a:solidFill>
                  <a:srgbClr val="9EADB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"/>
            <a:ext cx="12192000" cy="1234440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3108960" cy="762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49039" y="182880"/>
            <a:ext cx="3108960" cy="76200"/>
          </a:xfrm>
          <a:prstGeom prst="rect">
            <a:avLst/>
          </a:prstGeom>
          <a:solidFill>
            <a:srgbClr val="A8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0" y="182880"/>
            <a:ext cx="3108960" cy="76200"/>
          </a:xfrm>
          <a:prstGeom prst="rect">
            <a:avLst/>
          </a:prstGeom>
          <a:solidFill>
            <a:srgbClr val="9EA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B5657F"/>
                </a:solidFill>
                <a:latin typeface="Calibri"/>
              </a:rPr>
              <a:t>WEEK 2 · GOAL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49808"/>
            <a:ext cx="102412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Risk 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1014984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874520"/>
            <a:ext cx="475488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alibri"/>
              </a:rPr>
              <a:t>R1  False negative — vendor blind spot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49240" y="1984248"/>
            <a:ext cx="1097280" cy="32918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9240" y="1984248"/>
            <a:ext cx="1097280" cy="32918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Mitigated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1874520"/>
            <a:ext cx="40233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fallback closes recall gap to ~0 pp; residual = NVD data gaps (documented)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542032"/>
            <a:ext cx="101498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87752"/>
            <a:ext cx="475488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alibri"/>
              </a:rPr>
              <a:t>R2  False positive from loose fallback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2697480"/>
            <a:ext cx="1097280" cy="329184"/>
          </a:xfrm>
          <a:prstGeom prst="rect">
            <a:avLst/>
          </a:prstGeom>
          <a:solidFill>
            <a:srgbClr val="A8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697480"/>
            <a:ext cx="1097280" cy="32918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Partial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587752"/>
            <a:ext cx="40233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CPE weighted higher; fallback → SUGGEST/FLAG. Per-vendor FP rate unmeasured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255264"/>
            <a:ext cx="1014984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300984"/>
            <a:ext cx="475488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alibri"/>
              </a:rPr>
              <a:t>R3  Severity-only prioritization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49240" y="3410712"/>
            <a:ext cx="1097280" cy="32918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3410712"/>
            <a:ext cx="1097280" cy="32918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Mitigated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300984"/>
            <a:ext cx="40233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KEV/EPSS priority promotes actively-exploited CVEs above equal-CVSS peers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968496"/>
            <a:ext cx="101498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014216"/>
            <a:ext cx="475488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alibri"/>
              </a:rPr>
              <a:t>R4  Over-trust / automation bias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49240" y="4123944"/>
            <a:ext cx="1097280" cy="32918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49240" y="4123944"/>
            <a:ext cx="1097280" cy="32918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By design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014216"/>
            <a:ext cx="40233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'no match ≠ safe' stated; low confidence routed to human FLAG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681728"/>
            <a:ext cx="1014984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727448"/>
            <a:ext cx="475488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alibri"/>
              </a:rPr>
              <a:t>R5  OCR / screenshot input errors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49240" y="4837176"/>
            <a:ext cx="1097280" cy="329184"/>
          </a:xfrm>
          <a:prstGeom prst="rect">
            <a:avLst/>
          </a:prstGeom>
          <a:solidFill>
            <a:srgbClr val="9EA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49240" y="4837176"/>
            <a:ext cx="1097280" cy="32918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727448"/>
            <a:ext cx="40233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image path still TODO; confidence model already down-weights OCR source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394960"/>
            <a:ext cx="1014984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440680"/>
            <a:ext cx="475488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2B2B2B"/>
                </a:solidFill>
                <a:latin typeface="Calibri"/>
              </a:rPr>
              <a:t>R6  Incidental personal data (GDPR)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49240" y="5550408"/>
            <a:ext cx="1097280" cy="329184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49240" y="5550408"/>
            <a:ext cx="1097280" cy="329184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Mitigated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5440680"/>
            <a:ext cx="4023360" cy="54864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100" b="0" i="0">
                <a:solidFill>
                  <a:srgbClr val="2B2B2B"/>
                </a:solidFill>
                <a:latin typeface="Calibri"/>
              </a:rPr>
              <a:t>inputs hashed in audit log; screenshot text flagged &amp; minimized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9EADB5"/>
                </a:solidFill>
                <a:latin typeface="Calibri"/>
              </a:rPr>
              <a:t>IT Security Agent — Responsible AI &amp; Data Ethics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446520"/>
            <a:ext cx="5486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900" b="0" i="0">
                <a:solidFill>
                  <a:srgbClr val="9EADB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"/>
            <a:ext cx="12192000" cy="1234440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3108960" cy="76200"/>
          </a:xfrm>
          <a:prstGeom prst="rect">
            <a:avLst/>
          </a:prstGeom>
          <a:solidFill>
            <a:srgbClr val="7A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749039" y="182880"/>
            <a:ext cx="3108960" cy="76200"/>
          </a:xfrm>
          <a:prstGeom prst="rect">
            <a:avLst/>
          </a:prstGeom>
          <a:solidFill>
            <a:srgbClr val="A8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40880" y="182880"/>
            <a:ext cx="3108960" cy="76200"/>
          </a:xfrm>
          <a:prstGeom prst="rect">
            <a:avLst/>
          </a:prstGeom>
          <a:solidFill>
            <a:srgbClr val="9EA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457200"/>
            <a:ext cx="100584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 i="0">
                <a:solidFill>
                  <a:srgbClr val="B5657F"/>
                </a:solidFill>
                <a:latin typeface="Calibri"/>
              </a:rP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749808"/>
            <a:ext cx="10241280" cy="73152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Challenges &amp; Next Steps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3383280" cy="4114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383280" cy="548640"/>
          </a:xfrm>
          <a:prstGeom prst="rect">
            <a:avLst/>
          </a:prstGeom>
          <a:solidFill>
            <a:srgbClr val="5C1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01952"/>
            <a:ext cx="338328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0320"/>
            <a:ext cx="3017520" cy="320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• Confidence-scored baseline model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• KEV/EPSS threat-intel prioritization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• Quantitative fairness audit (66→0 pp)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• Risk register + audit-log entry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• Updated Pseudo-Model Card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40" y="1828800"/>
            <a:ext cx="3383280" cy="4114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77640" y="1828800"/>
            <a:ext cx="3383280" cy="548640"/>
          </a:xfrm>
          <a:prstGeom prst="rect">
            <a:avLst/>
          </a:prstGeom>
          <a:solidFill>
            <a:srgbClr val="A8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77640" y="1901952"/>
            <a:ext cx="338328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Challenges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2560320"/>
            <a:ext cx="3017520" cy="320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• Confidence weights hand-set, not calibrated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• Fallback FP rate not yet measured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• KEV/EPSS is offline stub, not live feed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• Vendor data skew can't be fixed in-tool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0" y="1828800"/>
            <a:ext cx="3383280" cy="41148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0" y="1828800"/>
            <a:ext cx="3383280" cy="548640"/>
          </a:xfrm>
          <a:prstGeom prst="rect">
            <a:avLst/>
          </a:prstGeom>
          <a:solidFill>
            <a:srgbClr val="9EA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1901952"/>
            <a:ext cx="338328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Next (Week 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2560320"/>
            <a:ext cx="3017520" cy="3200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• XAI: per-signal confidence attribution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• Calibrate weights on labeled matches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• Measure per-vendor false-positive rate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• Tests to ≥80% 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82296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900" b="0" i="0">
                <a:solidFill>
                  <a:srgbClr val="9EADB5"/>
                </a:solidFill>
                <a:latin typeface="Calibri"/>
              </a:rPr>
              <a:t>IT Security Agent — Responsible AI &amp; Data Ethics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46520"/>
            <a:ext cx="54864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/>
            <a:r>
              <a:rPr sz="900" b="0" i="0">
                <a:solidFill>
                  <a:srgbClr val="9EADB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